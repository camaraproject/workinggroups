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12"/>
  </p:notesMasterIdLst>
  <p:sldIdLst>
    <p:sldId id="272" r:id="rId3"/>
    <p:sldId id="300" r:id="rId4"/>
    <p:sldId id="298" r:id="rId5"/>
    <p:sldId id="304" r:id="rId6"/>
    <p:sldId id="274" r:id="rId7"/>
    <p:sldId id="296" r:id="rId8"/>
    <p:sldId id="297" r:id="rId9"/>
    <p:sldId id="295" r:id="rId10"/>
    <p:sldId id="299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xudan-XD" initials="XD" lastIdx="1" clrIdx="0"/>
  <p:cmAuthor id="2" name="Administrator" initials="l" lastIdx="1" clrIdx="1"/>
  <p:cmAuthor id="3" name="作者" initials="A" lastIdx="0" clrIdx="2"/>
  <p:cmAuthor id="4" name="HP" initials="H" lastIdx="4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ASUS" initials="A" lastIdx="28" clrIdx="4"/>
  <p:cmAuthor id="10" name="lenovo" initials="l" lastIdx="6" clrIdx="2"/>
  <p:cmAuthor id="11" name="xiedk" initials="x" lastIdx="2" clrIdx="10"/>
  <p:cmAuthor id="12" name="未知用户1" initials="未知用户1" lastIdx="2" clrIdx="11"/>
  <p:cmAuthor id="13" name="马云飞10014438" initials="马" lastIdx="4" clrIdx="0"/>
  <p:cmAuthor id="14" name="10077969" initials="10077969" lastIdx="2" clrIdx="13"/>
  <p:cmAuthor id="15" name="康浩杰|hnkanghaojie" initials="A" lastIdx="1" clrIdx="14"/>
  <p:cmAuthor id="16" name="孟伟伟" initials="孟" lastIdx="1" clrIdx="15"/>
  <p:cmAuthor id="17" name="dongrp" initials="d" lastIdx="1" clrIdx="16"/>
  <p:cmAuthor id="18" name="hc" initials="h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李蕾00009994" initials="李" lastIdx="6" clrIdx="17"/>
  <p:cmAuthor id="25" name="wyz" initials="w" lastIdx="1" clrIdx="24"/>
  <p:cmAuthor id="26" name="10270945" initials="1" lastIdx="1" clrIdx="25"/>
  <p:cmAuthor id="27" name="10295142" initials="1" lastIdx="1" clrIdx="26"/>
  <p:cmAuthor id="28" name="Hou Yingfeng" initials="H" lastIdx="10" clrIdx="23"/>
  <p:cmAuthor id="30" name="10056791" initials="ZTE" lastIdx="1" clrIdx="29"/>
  <p:cmAuthor id="31" name="Author" initials="A" lastIdx="0" clrIdx="30"/>
  <p:cmAuthor id="32" name="李楠10047711" initials="李楠10047711" lastIdx="2" clrIdx="31"/>
  <p:cmAuthor id="76" name="许 志军" initials="许" lastIdx="1" clrIdx="25"/>
  <p:cmAuthor id="33" name="610007" initials="6" lastIdx="0" clrIdx="32"/>
  <p:cmAuthor id="77" name="欧 志芳" initials="欧" lastIdx="1" clrIdx="26"/>
  <p:cmAuthor id="34" name="Jason" initials="J" lastIdx="18" clrIdx="33"/>
  <p:cmAuthor id="35" name="stephen" initials="s" lastIdx="1" clrIdx="3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58" autoAdjust="0"/>
  </p:normalViewPr>
  <p:slideViewPr>
    <p:cSldViewPr snapToGrid="0">
      <p:cViewPr varScale="1">
        <p:scale>
          <a:sx n="155" d="100"/>
          <a:sy n="155" d="100"/>
        </p:scale>
        <p:origin x="49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679B6-DFB9-465D-BCF7-63C3CDB22F53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DE9C1-3A93-4484-ADD9-54060A054C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72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817DD0-38E7-46ED-A2FE-994A5C24976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622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DDE9C1-3A93-4484-ADD9-54060A054C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458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365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681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think-cell Folie" r:id="rId4" imgW="12700" imgH="12700" progId="TCLayout.ActiveDocument.1">
                  <p:embed/>
                </p:oleObj>
              </mc:Choice>
              <mc:Fallback>
                <p:oleObj name="think-cell Folie" r:id="rId4" imgW="12700" imgH="12700" progId="TCLayout.ActiveDocument.1">
                  <p:embed/>
                  <p:pic>
                    <p:nvPicPr>
                      <p:cNvPr id="0" name="图片 10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1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28916" y="497258"/>
            <a:ext cx="3684694" cy="7089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" y="0"/>
            <a:ext cx="8382468" cy="1786654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70211" y="436920"/>
            <a:ext cx="11580552" cy="829647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540" dirty="0">
                <a:solidFill>
                  <a:schemeClr val="bg1"/>
                </a:solidFill>
              </a:rPr>
              <a:t>Slide</a:t>
            </a:r>
            <a:br>
              <a:rPr lang="en-US" sz="2540" dirty="0">
                <a:solidFill>
                  <a:schemeClr val="bg1"/>
                </a:solidFill>
              </a:rPr>
            </a:br>
            <a:r>
              <a:rPr lang="en-US" sz="2540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470211" y="1999093"/>
            <a:ext cx="11580552" cy="4361648"/>
          </a:xfrm>
        </p:spPr>
        <p:txBody>
          <a:bodyPr/>
          <a:lstStyle>
            <a:lvl1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85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think-cell Folie" r:id="rId5" imgW="12700" imgH="12700" progId="TCLayout.ActiveDocument.1">
                  <p:embed/>
                </p:oleObj>
              </mc:Choice>
              <mc:Fallback>
                <p:oleObj name="think-cell Folie" r:id="rId5" imgW="12700" imgH="12700" progId="TCLayout.ActiveDocument.1">
                  <p:embed/>
                  <p:pic>
                    <p:nvPicPr>
                      <p:cNvPr id="0" name="Objek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2998047"/>
            <a:ext cx="9403181" cy="234528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/>
              <a:t>Montserrat Light</a:t>
            </a:r>
            <a:br>
              <a:rPr lang="de-DE" dirty="0"/>
            </a:br>
            <a:r>
              <a:rPr lang="de-DE" dirty="0"/>
              <a:t>Maximum 3 </a:t>
            </a:r>
            <a:r>
              <a:rPr lang="de-DE" dirty="0" err="1"/>
              <a:t>lines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44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401303" y="5800211"/>
            <a:ext cx="9403181" cy="31668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11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dirty="0" err="1"/>
              <a:t>Subheading</a:t>
            </a:r>
            <a:r>
              <a:rPr lang="de-DE" dirty="0"/>
              <a:t> Montserrat Light, 20 </a:t>
            </a:r>
            <a:r>
              <a:rPr lang="de-DE" dirty="0" err="1"/>
              <a:t>pt</a:t>
            </a:r>
            <a:endParaRPr lang="de-DE" dirty="0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/>
          <p:cNvSpPr/>
          <p:nvPr userDrawn="1"/>
        </p:nvSpPr>
        <p:spPr>
          <a:xfrm>
            <a:off x="0" y="0"/>
            <a:ext cx="12192000" cy="1551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5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1" y="782104"/>
            <a:ext cx="12192000" cy="1551928"/>
          </a:xfrm>
          <a:prstGeom prst="rect">
            <a:avLst/>
          </a:prstGeom>
        </p:spPr>
      </p:pic>
      <p:pic>
        <p:nvPicPr>
          <p:cNvPr id="3" name="Grafik 2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4745" y="432740"/>
            <a:ext cx="5402508" cy="10395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680" y="1682"/>
          <a:ext cx="1679" cy="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think-cell Folie" r:id="rId5" imgW="12700" imgH="12700" progId="TCLayout.ActiveDocument.1">
                  <p:embed/>
                </p:oleObj>
              </mc:Choice>
              <mc:Fallback>
                <p:oleObj name="think-cell Folie" r:id="rId5" imgW="12700" imgH="12700" progId="TCLayout.ActiveDocument.1">
                  <p:embed/>
                  <p:pic>
                    <p:nvPicPr>
                      <p:cNvPr id="0" name="Objek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80" y="1682"/>
                        <a:ext cx="1679" cy="1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5290458" y="6423342"/>
            <a:ext cx="1709057" cy="277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905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401303" y="1243683"/>
            <a:ext cx="9456935" cy="434371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655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68850" y="-326337"/>
            <a:ext cx="12916643" cy="7537262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RAN25A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2033" y="233498"/>
            <a:ext cx="11524889" cy="4980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57262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RAN 25A 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420" indent="-398145">
              <a:lnSpc>
                <a:spcPct val="150000"/>
              </a:lnSpc>
              <a:buFont typeface="+mj-lt"/>
              <a:buAutoNum type="arabicPeriod"/>
              <a:tabLst/>
              <a:defRPr sz="2398" b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420" indent="-398145">
              <a:buFont typeface="+mj-lt"/>
              <a:buAutoNum type="arabicPeriod"/>
              <a:tabLst/>
              <a:defRPr/>
            </a:lvl2pPr>
            <a:lvl3pPr marL="14275" indent="0">
              <a:buFont typeface="+mj-lt"/>
              <a:buNone/>
              <a:tabLst/>
              <a:defRPr sz="2198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75" indent="0">
              <a:buFont typeface="+mj-lt"/>
              <a:buNone/>
              <a:tabLst/>
              <a:defRPr sz="2198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75" indent="0">
              <a:buFont typeface="+mj-lt"/>
              <a:buNone/>
              <a:tabLst/>
              <a:defRPr sz="2198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517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12"/>
            <a:r>
              <a:rPr kumimoji="1" lang="zh-CN" altLang="en-US" sz="3598" dirty="0">
                <a:solidFill>
                  <a:srgbClr val="1D1D1A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23979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70F3-CE90-48C4-9164-61E1D2692451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6AC9C-B0EC-4E8B-9E2D-F71F05C00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137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4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4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4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9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161964" y="2556189"/>
            <a:ext cx="9403181" cy="2345288"/>
          </a:xfrm>
        </p:spPr>
        <p:txBody>
          <a:bodyPr anchor="ctr"/>
          <a:lstStyle/>
          <a:p>
            <a:pPr marL="0" indent="0">
              <a:buNone/>
            </a:pPr>
            <a:r>
              <a:rPr lang="en-US" dirty="0" smtClean="0"/>
              <a:t>Network Slicing API Proposal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59877" y="4749970"/>
            <a:ext cx="501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China Unicom, China Telecom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8F65D7C5-1CEE-48CF-B479-6F407FAAAB96}"/>
              </a:ext>
            </a:extLst>
          </p:cNvPr>
          <p:cNvSpPr txBox="1">
            <a:spLocks/>
          </p:cNvSpPr>
          <p:nvPr/>
        </p:nvSpPr>
        <p:spPr>
          <a:xfrm>
            <a:off x="198060" y="159339"/>
            <a:ext cx="11467529" cy="736933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defPPr>
              <a:defRPr lang="zh-CN"/>
            </a:defPPr>
            <a:lvl1pPr defTabSz="86703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2400" b="1">
                <a:solidFill>
                  <a:srgbClr val="E20074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defRPr>
            </a:lvl1pPr>
            <a:lvl2pPr marL="990798" indent="-381076" algn="l" defTabSz="1219444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305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027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749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3471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192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914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2636" indent="-304861" algn="l" defTabSz="121944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For </a:t>
            </a:r>
            <a:r>
              <a:rPr lang="en-US" altLang="zh-CN" dirty="0" smtClean="0">
                <a:solidFill>
                  <a:schemeClr val="bg1"/>
                </a:solidFill>
              </a:rPr>
              <a:t>Slicing Scenarios</a:t>
            </a:r>
            <a:r>
              <a:rPr lang="en-US" altLang="zh-CN" dirty="0">
                <a:solidFill>
                  <a:schemeClr val="bg1"/>
                </a:solidFill>
              </a:rPr>
              <a:t>,  A New </a:t>
            </a:r>
            <a:r>
              <a:rPr lang="en-US" altLang="zh-CN" dirty="0" smtClean="0">
                <a:solidFill>
                  <a:schemeClr val="bg1"/>
                </a:solidFill>
              </a:rPr>
              <a:t>Slicing API </a:t>
            </a:r>
            <a:r>
              <a:rPr lang="en-US" altLang="zh-CN" dirty="0">
                <a:solidFill>
                  <a:schemeClr val="bg1"/>
                </a:solidFill>
              </a:rPr>
              <a:t>Is Recommended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189DF8A4-4B68-4512-A12F-E95AC44B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046" y="3091123"/>
            <a:ext cx="1664893" cy="12345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DEB24CE0-3B09-4D84-89B9-E7F043A2F651}"/>
              </a:ext>
            </a:extLst>
          </p:cNvPr>
          <p:cNvSpPr txBox="1"/>
          <p:nvPr/>
        </p:nvSpPr>
        <p:spPr>
          <a:xfrm>
            <a:off x="6134334" y="2262379"/>
            <a:ext cx="1951434" cy="37442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 defTabSz="914113"/>
            <a:r>
              <a:rPr lang="en-US" altLang="zh-CN" sz="1600" b="1" dirty="0" err="1">
                <a:solidFill>
                  <a:prstClr val="black"/>
                </a:solidFill>
                <a:latin typeface="Arial"/>
                <a:ea typeface="等线" panose="02010600030101010101" pitchFamily="2" charset="-122"/>
              </a:rPr>
              <a:t>QoD</a:t>
            </a:r>
            <a:r>
              <a:rPr lang="en-US" altLang="zh-CN" sz="1600" b="1" dirty="0">
                <a:solidFill>
                  <a:prstClr val="black"/>
                </a:solidFill>
                <a:latin typeface="Arial"/>
                <a:ea typeface="等线" panose="02010600030101010101" pitchFamily="2" charset="-122"/>
              </a:rPr>
              <a:t> API</a:t>
            </a:r>
            <a:endParaRPr lang="zh-CN" altLang="en-US" sz="1600" b="1" dirty="0">
              <a:solidFill>
                <a:prstClr val="black"/>
              </a:solidFill>
              <a:latin typeface="Arial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4AFFB7DB-4EB6-48DD-BABE-21DECF9D347E}"/>
              </a:ext>
            </a:extLst>
          </p:cNvPr>
          <p:cNvSpPr txBox="1"/>
          <p:nvPr/>
        </p:nvSpPr>
        <p:spPr>
          <a:xfrm>
            <a:off x="6134335" y="4487760"/>
            <a:ext cx="2011007" cy="34043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 defTabSz="914113"/>
            <a:r>
              <a:rPr lang="en-US" altLang="zh-CN" sz="1400" b="1" dirty="0" smtClean="0">
                <a:solidFill>
                  <a:srgbClr val="C00000"/>
                </a:solidFill>
                <a:latin typeface="Arial"/>
                <a:ea typeface="等线" panose="02010600030101010101" pitchFamily="2" charset="-122"/>
              </a:rPr>
              <a:t>Network Slicing API</a:t>
            </a:r>
            <a:endParaRPr lang="zh-CN" altLang="en-US" sz="1400" b="1" dirty="0">
              <a:solidFill>
                <a:srgbClr val="C00000"/>
              </a:solidFill>
              <a:latin typeface="Arial"/>
              <a:ea typeface="等线" panose="0201060003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65631FDB-2A1B-46BD-A533-74182C0DAAC1}"/>
              </a:ext>
            </a:extLst>
          </p:cNvPr>
          <p:cNvCxnSpPr>
            <a:cxnSpLocks/>
          </p:cNvCxnSpPr>
          <p:nvPr/>
        </p:nvCxnSpPr>
        <p:spPr>
          <a:xfrm>
            <a:off x="5841208" y="1478473"/>
            <a:ext cx="0" cy="4933108"/>
          </a:xfrm>
          <a:prstGeom prst="line">
            <a:avLst/>
          </a:prstGeom>
          <a:noFill/>
          <a:ln w="3175" cap="flat" cmpd="sng" algn="ctr">
            <a:solidFill>
              <a:schemeClr val="tx1">
                <a:lumMod val="50000"/>
                <a:lumOff val="50000"/>
              </a:schemeClr>
            </a:solidFill>
            <a:prstDash val="sysDash"/>
            <a:miter lim="800000"/>
          </a:ln>
          <a:effectLst/>
        </p:spPr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7B4F39F6-34AB-48F2-BAA1-08FF7CE8897E}"/>
              </a:ext>
            </a:extLst>
          </p:cNvPr>
          <p:cNvGrpSpPr/>
          <p:nvPr/>
        </p:nvGrpSpPr>
        <p:grpSpPr>
          <a:xfrm>
            <a:off x="917416" y="985125"/>
            <a:ext cx="4129108" cy="369188"/>
            <a:chOff x="1191106" y="1064381"/>
            <a:chExt cx="4099609" cy="369332"/>
          </a:xfrm>
        </p:grpSpPr>
        <p:sp>
          <p:nvSpPr>
            <p:cNvPr id="10" name="矩形 163">
              <a:extLst>
                <a:ext uri="{FF2B5EF4-FFF2-40B4-BE49-F238E27FC236}">
                  <a16:creationId xmlns:a16="http://schemas.microsoft.com/office/drawing/2014/main" xmlns="" id="{D7161328-AE38-4F6D-BB3A-B39BD3B8E16E}"/>
                </a:ext>
              </a:extLst>
            </p:cNvPr>
            <p:cNvSpPr/>
            <p:nvPr/>
          </p:nvSpPr>
          <p:spPr>
            <a:xfrm>
              <a:off x="1191106" y="1064381"/>
              <a:ext cx="4099609" cy="3385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747">
                <a:defRPr/>
              </a:pPr>
              <a:r>
                <a:rPr lang="en-US" altLang="zh-CN" sz="1600" b="1" dirty="0">
                  <a:solidFill>
                    <a:prstClr val="black"/>
                  </a:solidFill>
                  <a:latin typeface="Arial"/>
                  <a:ea typeface="等线" panose="02010600030101010101" pitchFamily="2" charset="-122"/>
                  <a:cs typeface="+mn-ea"/>
                  <a:sym typeface="+mn-lt"/>
                </a:rPr>
                <a:t>QoS Requirements</a:t>
              </a:r>
            </a:p>
          </p:txBody>
        </p:sp>
        <p:cxnSp>
          <p:nvCxnSpPr>
            <p:cNvPr id="11" name="直接连接符 3">
              <a:extLst>
                <a:ext uri="{FF2B5EF4-FFF2-40B4-BE49-F238E27FC236}">
                  <a16:creationId xmlns:a16="http://schemas.microsoft.com/office/drawing/2014/main" xmlns="" id="{26A28634-E70F-48A0-BFE3-49D0F79A112A}"/>
                </a:ext>
              </a:extLst>
            </p:cNvPr>
            <p:cNvCxnSpPr>
              <a:cxnSpLocks/>
            </p:cNvCxnSpPr>
            <p:nvPr/>
          </p:nvCxnSpPr>
          <p:spPr>
            <a:xfrm>
              <a:off x="1834523" y="1433713"/>
              <a:ext cx="2679664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8486BE85-ACEF-4CDB-88F1-EE3A29636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889" y="3090467"/>
            <a:ext cx="1664894" cy="12352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74E5F32C-43DD-45B1-A67A-11B43589D0B0}"/>
              </a:ext>
            </a:extLst>
          </p:cNvPr>
          <p:cNvSpPr/>
          <p:nvPr/>
        </p:nvSpPr>
        <p:spPr>
          <a:xfrm>
            <a:off x="216471" y="1488833"/>
            <a:ext cx="5516593" cy="1021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13"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cs typeface="+mn-ea"/>
              </a:rPr>
              <a:t>Different scenarios have different requirements for QoS assurance.</a:t>
            </a:r>
            <a:r>
              <a:rPr lang="zh-CN" altLang="en-US" sz="1400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cs typeface="+mn-ea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cs typeface="+mn-ea"/>
              </a:rPr>
              <a:t>The difference is not only about SLA (throughput or latency or other KPIs), but also about the timing of assurance. For Example</a:t>
            </a:r>
            <a:r>
              <a:rPr lang="zh-CN" altLang="en-US" sz="1400" dirty="0">
                <a:solidFill>
                  <a:prstClr val="black"/>
                </a:solidFill>
                <a:latin typeface="Arial"/>
                <a:ea typeface="等线" panose="02010600030101010101" pitchFamily="2" charset="-122"/>
                <a:cs typeface="+mn-ea"/>
              </a:rPr>
              <a:t>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D82B368-0B8E-4433-8DA8-F802F5BA017C}"/>
              </a:ext>
            </a:extLst>
          </p:cNvPr>
          <p:cNvSpPr/>
          <p:nvPr/>
        </p:nvSpPr>
        <p:spPr>
          <a:xfrm>
            <a:off x="1708989" y="2653257"/>
            <a:ext cx="1407391" cy="307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3"/>
            <a:r>
              <a:rPr lang="en-US" altLang="zh-CN" sz="1400" b="1" dirty="0">
                <a:solidFill>
                  <a:srgbClr val="C00000"/>
                </a:solidFill>
                <a:latin typeface="Arial"/>
                <a:ea typeface="等线" panose="02010600030101010101" pitchFamily="2" charset="-122"/>
              </a:rPr>
              <a:t>Cloud Gaming</a:t>
            </a:r>
            <a:endParaRPr lang="zh-CN" altLang="en-US" sz="1400" b="1" dirty="0">
              <a:solidFill>
                <a:srgbClr val="C00000"/>
              </a:solidFill>
              <a:latin typeface="Arial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F17CF002-7BE8-4C89-9583-E27BC1A07D6B}"/>
              </a:ext>
            </a:extLst>
          </p:cNvPr>
          <p:cNvSpPr/>
          <p:nvPr/>
        </p:nvSpPr>
        <p:spPr>
          <a:xfrm>
            <a:off x="3874147" y="2636805"/>
            <a:ext cx="1466686" cy="307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3"/>
            <a:r>
              <a:rPr lang="en-US" altLang="zh-CN" sz="1400" b="1" dirty="0">
                <a:solidFill>
                  <a:srgbClr val="C00000"/>
                </a:solidFill>
                <a:latin typeface="Arial"/>
                <a:ea typeface="等线" panose="02010600030101010101" pitchFamily="2" charset="-122"/>
              </a:rPr>
              <a:t>Live Broadcast</a:t>
            </a:r>
            <a:endParaRPr lang="zh-CN" altLang="en-US" sz="1400" b="1" dirty="0">
              <a:solidFill>
                <a:srgbClr val="C00000"/>
              </a:solidFill>
              <a:latin typeface="Arial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98BCDF3-1BA2-4A3B-B94A-101698D5C03B}"/>
              </a:ext>
            </a:extLst>
          </p:cNvPr>
          <p:cNvSpPr/>
          <p:nvPr/>
        </p:nvSpPr>
        <p:spPr>
          <a:xfrm>
            <a:off x="167126" y="3610865"/>
            <a:ext cx="1059630" cy="307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13"/>
            <a:r>
              <a:rPr lang="en-US" altLang="zh-CN" sz="1400" b="1" dirty="0">
                <a:solidFill>
                  <a:srgbClr val="666666"/>
                </a:solidFill>
                <a:latin typeface="Arial"/>
                <a:ea typeface="等线" panose="02010600030101010101" pitchFamily="2" charset="-122"/>
                <a:cs typeface="+mn-ea"/>
              </a:rPr>
              <a:t>Use cases</a:t>
            </a:r>
            <a:endParaRPr lang="zh-CN" altLang="en-US" sz="1400" b="1" dirty="0">
              <a:solidFill>
                <a:srgbClr val="666666"/>
              </a:solidFill>
              <a:latin typeface="Arial"/>
              <a:ea typeface="等线" panose="02010600030101010101" pitchFamily="2" charset="-122"/>
              <a:cs typeface="+mn-ea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xmlns="" id="{05AB94D8-9DB8-468E-9778-6B529C96E5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91362" y="4639763"/>
          <a:ext cx="4231678" cy="1497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839">
                  <a:extLst>
                    <a:ext uri="{9D8B030D-6E8A-4147-A177-3AD203B41FA5}">
                      <a16:colId xmlns:a16="http://schemas.microsoft.com/office/drawing/2014/main" xmlns="" val="2485696766"/>
                    </a:ext>
                  </a:extLst>
                </a:gridCol>
                <a:gridCol w="2115839">
                  <a:extLst>
                    <a:ext uri="{9D8B030D-6E8A-4147-A177-3AD203B41FA5}">
                      <a16:colId xmlns:a16="http://schemas.microsoft.com/office/drawing/2014/main" xmlns="" val="1543156483"/>
                    </a:ext>
                  </a:extLst>
                </a:gridCol>
              </a:tblGrid>
              <a:tr h="448627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Single consumer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Multi enterprise users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02633512"/>
                  </a:ext>
                </a:extLst>
              </a:tr>
              <a:tr h="553101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Take effect immediately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Make a booking in advance (e.g. 1~2weeks)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1223957"/>
                  </a:ext>
                </a:extLst>
              </a:tr>
              <a:tr h="495786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Focus on latency and downlink throughput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Focus on Uplink 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+mn-lt"/>
                          <a:cs typeface="+mn-ea"/>
                        </a:rPr>
                        <a:t>throughput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49802313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345E0ABF-6AB4-4FED-AAEE-3664F8603A86}"/>
              </a:ext>
            </a:extLst>
          </p:cNvPr>
          <p:cNvSpPr/>
          <p:nvPr/>
        </p:nvSpPr>
        <p:spPr>
          <a:xfrm>
            <a:off x="2382" y="5075340"/>
            <a:ext cx="1388980" cy="52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13"/>
            <a:r>
              <a:rPr lang="en-US" altLang="zh-CN" sz="1400" b="1" dirty="0">
                <a:solidFill>
                  <a:srgbClr val="666666"/>
                </a:solidFill>
                <a:latin typeface="Arial"/>
                <a:ea typeface="等线" panose="02010600030101010101" pitchFamily="2" charset="-122"/>
                <a:cs typeface="+mn-ea"/>
              </a:rPr>
              <a:t>Key</a:t>
            </a:r>
          </a:p>
          <a:p>
            <a:pPr algn="ctr" defTabSz="914113"/>
            <a:r>
              <a:rPr lang="en-US" altLang="zh-CN" sz="1400" b="1" dirty="0">
                <a:solidFill>
                  <a:srgbClr val="666666"/>
                </a:solidFill>
                <a:latin typeface="Arial"/>
                <a:ea typeface="等线" panose="02010600030101010101" pitchFamily="2" charset="-122"/>
                <a:cs typeface="+mn-ea"/>
              </a:rPr>
              <a:t>Requirements</a:t>
            </a:r>
            <a:endParaRPr lang="zh-CN" altLang="en-US" sz="1400" b="1" dirty="0">
              <a:solidFill>
                <a:srgbClr val="666666"/>
              </a:solidFill>
              <a:latin typeface="Arial"/>
              <a:ea typeface="等线" panose="02010600030101010101" pitchFamily="2" charset="-122"/>
              <a:cs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2372DFBB-E244-48F5-BA37-982A8FF3EB99}"/>
              </a:ext>
            </a:extLst>
          </p:cNvPr>
          <p:cNvGrpSpPr/>
          <p:nvPr/>
        </p:nvGrpSpPr>
        <p:grpSpPr>
          <a:xfrm>
            <a:off x="6978193" y="985125"/>
            <a:ext cx="4129108" cy="369188"/>
            <a:chOff x="1191106" y="1064381"/>
            <a:chExt cx="4099609" cy="369332"/>
          </a:xfrm>
        </p:grpSpPr>
        <p:sp>
          <p:nvSpPr>
            <p:cNvPr id="20" name="矩形 163">
              <a:extLst>
                <a:ext uri="{FF2B5EF4-FFF2-40B4-BE49-F238E27FC236}">
                  <a16:creationId xmlns:a16="http://schemas.microsoft.com/office/drawing/2014/main" xmlns="" id="{05FA25BC-3E71-4963-B9BA-F1712C388CB7}"/>
                </a:ext>
              </a:extLst>
            </p:cNvPr>
            <p:cNvSpPr/>
            <p:nvPr/>
          </p:nvSpPr>
          <p:spPr>
            <a:xfrm>
              <a:off x="1191106" y="1064381"/>
              <a:ext cx="4099609" cy="3385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3747">
                <a:defRPr/>
              </a:pPr>
              <a:r>
                <a:rPr lang="en-US" altLang="zh-CN" sz="1600" b="1" dirty="0">
                  <a:solidFill>
                    <a:prstClr val="black"/>
                  </a:solidFill>
                  <a:latin typeface="Arial"/>
                  <a:ea typeface="等线" panose="02010600030101010101" pitchFamily="2" charset="-122"/>
                  <a:cs typeface="+mn-ea"/>
                  <a:sym typeface="+mn-lt"/>
                </a:rPr>
                <a:t>Solution</a:t>
              </a:r>
            </a:p>
          </p:txBody>
        </p:sp>
        <p:cxnSp>
          <p:nvCxnSpPr>
            <p:cNvPr id="21" name="直接连接符 3">
              <a:extLst>
                <a:ext uri="{FF2B5EF4-FFF2-40B4-BE49-F238E27FC236}">
                  <a16:creationId xmlns:a16="http://schemas.microsoft.com/office/drawing/2014/main" xmlns="" id="{F88C26D0-2F1E-4EDF-8D8A-C7165EE039E5}"/>
                </a:ext>
              </a:extLst>
            </p:cNvPr>
            <p:cNvCxnSpPr>
              <a:cxnSpLocks/>
            </p:cNvCxnSpPr>
            <p:nvPr/>
          </p:nvCxnSpPr>
          <p:spPr>
            <a:xfrm>
              <a:off x="2372307" y="1433713"/>
              <a:ext cx="1786443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pic>
        <p:nvPicPr>
          <p:cNvPr id="22" name="Picture 19" descr="\\Bchief-sever180\共享\华为\2016\6月\D-201606417-金融营销材料设计-刘泉\文件\link\组 26.png">
            <a:extLst>
              <a:ext uri="{FF2B5EF4-FFF2-40B4-BE49-F238E27FC236}">
                <a16:creationId xmlns:a16="http://schemas.microsoft.com/office/drawing/2014/main" xmlns="" id="{07D6C6D0-0C78-4989-90B5-3A1FBF5D4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7447819" y="2175998"/>
            <a:ext cx="1979227" cy="584181"/>
          </a:xfrm>
          <a:prstGeom prst="rect">
            <a:avLst/>
          </a:prstGeom>
          <a:noFill/>
        </p:spPr>
      </p:pic>
      <p:pic>
        <p:nvPicPr>
          <p:cNvPr id="23" name="Picture 19" descr="\\Bchief-sever180\共享\华为\2016\6月\D-201606417-金融营销材料设计-刘泉\文件\link\组 26.png">
            <a:extLst>
              <a:ext uri="{FF2B5EF4-FFF2-40B4-BE49-F238E27FC236}">
                <a16:creationId xmlns:a16="http://schemas.microsoft.com/office/drawing/2014/main" xmlns="" id="{08E63D83-10C4-44DE-85B9-7D0A26A96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7447819" y="4636171"/>
            <a:ext cx="1979227" cy="584181"/>
          </a:xfrm>
          <a:prstGeom prst="rect">
            <a:avLst/>
          </a:prstGeom>
          <a:noFill/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E7022C26-E6C8-4D0D-9418-97123FE41990}"/>
              </a:ext>
            </a:extLst>
          </p:cNvPr>
          <p:cNvSpPr/>
          <p:nvPr/>
        </p:nvSpPr>
        <p:spPr>
          <a:xfrm>
            <a:off x="8729525" y="1657158"/>
            <a:ext cx="3215319" cy="1857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635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prstClr val="black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For </a:t>
            </a:r>
            <a:r>
              <a:rPr lang="zh-CN" altLang="zh-CN" sz="1400" dirty="0">
                <a:solidFill>
                  <a:srgbClr val="C00000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immediate effect</a:t>
            </a:r>
            <a:r>
              <a:rPr lang="en-US" altLang="zh-CN" sz="1400" dirty="0" err="1">
                <a:solidFill>
                  <a:srgbClr val="C00000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ive</a:t>
            </a:r>
            <a:r>
              <a:rPr lang="zh-CN" altLang="zh-CN" sz="1400" dirty="0">
                <a:solidFill>
                  <a:srgbClr val="C00000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 mode</a:t>
            </a:r>
            <a:endParaRPr lang="en-US" altLang="zh-CN" sz="1400" dirty="0">
              <a:solidFill>
                <a:srgbClr val="C00000"/>
              </a:solidFill>
              <a:latin typeface="Arial" panose="020B0604020202020204" pitchFamily="34" charset="0"/>
              <a:ea typeface="inherit"/>
              <a:cs typeface="Arial" panose="020B0604020202020204" pitchFamily="34" charset="0"/>
            </a:endParaRPr>
          </a:p>
          <a:p>
            <a:pPr marL="285635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Only provide prioritized capability</a:t>
            </a:r>
          </a:p>
          <a:p>
            <a:pPr marL="285635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Key KPI parameters: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UE info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Duration(xx seconds)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QoS Level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C95E022C-7359-4CCC-9EF2-5EB88D7C5F25}"/>
              </a:ext>
            </a:extLst>
          </p:cNvPr>
          <p:cNvSpPr/>
          <p:nvPr/>
        </p:nvSpPr>
        <p:spPr>
          <a:xfrm>
            <a:off x="8547086" y="3660299"/>
            <a:ext cx="3483675" cy="277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635" indent="-285635" defTabSz="91411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prstClr val="black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For </a:t>
            </a:r>
            <a:r>
              <a:rPr lang="en-US" altLang="zh-CN" sz="1400" dirty="0" smtClean="0">
                <a:solidFill>
                  <a:srgbClr val="C00000"/>
                </a:solidFill>
                <a:latin typeface="Arial" panose="020B0604020202020204" pitchFamily="34" charset="0"/>
                <a:ea typeface="inherit"/>
                <a:cs typeface="Arial" panose="020B0604020202020204" pitchFamily="34" charset="0"/>
              </a:rPr>
              <a:t>reserve </a:t>
            </a:r>
            <a:r>
              <a:rPr lang="zh-CN" altLang="zh-CN" sz="1400" dirty="0" smtClean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effective </a:t>
            </a:r>
            <a:r>
              <a:rPr lang="zh-CN" altLang="zh-CN" sz="1400" dirty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mode</a:t>
            </a:r>
            <a:endParaRPr lang="en-US" altLang="zh-CN" sz="1400" dirty="0">
              <a:solidFill>
                <a:srgbClr val="C0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635" indent="-285635" defTabSz="91411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Provide QoS guaranteed capability</a:t>
            </a:r>
          </a:p>
          <a:p>
            <a:pPr marL="285635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Key KPI parameters: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Time Period(</a:t>
            </a:r>
            <a:r>
              <a:rPr lang="en-US" altLang="zh-CN" sz="1200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start~end</a:t>
            </a: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Region(point/line/area)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UE Number(one or more)</a:t>
            </a:r>
          </a:p>
          <a:p>
            <a:pPr marL="742653" lvl="1" indent="-285635" defTabSz="91411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SLA KPI</a:t>
            </a:r>
            <a:r>
              <a:rPr lang="zh-CN" altLang="zh-CN" sz="1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1400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635" indent="-285635" defTabSz="91411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i="1" dirty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CSP can evaluate network capabilities and </a:t>
            </a:r>
            <a:r>
              <a:rPr lang="en-US" altLang="zh-CN" sz="1400" i="1" dirty="0" smtClean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reserve a slice service in </a:t>
            </a:r>
            <a:r>
              <a:rPr lang="en-US" altLang="zh-CN" sz="1400" i="1" dirty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advance based on slicing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16726C60-5A94-439A-A032-19DC02BB5B11}"/>
              </a:ext>
            </a:extLst>
          </p:cNvPr>
          <p:cNvSpPr/>
          <p:nvPr/>
        </p:nvSpPr>
        <p:spPr>
          <a:xfrm>
            <a:off x="6012360" y="1488834"/>
            <a:ext cx="5992059" cy="206097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3"/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C076186F-0361-4AF2-B8A2-6E492E3C3820}"/>
              </a:ext>
            </a:extLst>
          </p:cNvPr>
          <p:cNvSpPr/>
          <p:nvPr/>
        </p:nvSpPr>
        <p:spPr>
          <a:xfrm>
            <a:off x="6037580" y="3610865"/>
            <a:ext cx="5992059" cy="27512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3"/>
            <a:endParaRPr lang="zh-CN" altLang="en-US" sz="1799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4089975-A916-40C9-A1C0-B40905452153}"/>
              </a:ext>
            </a:extLst>
          </p:cNvPr>
          <p:cNvSpPr/>
          <p:nvPr/>
        </p:nvSpPr>
        <p:spPr>
          <a:xfrm>
            <a:off x="6012360" y="1557867"/>
            <a:ext cx="6017275" cy="2023994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sz="160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D308B7E5-13BE-4C04-BC0A-DD64EBF4C136}"/>
              </a:ext>
            </a:extLst>
          </p:cNvPr>
          <p:cNvSpPr/>
          <p:nvPr/>
        </p:nvSpPr>
        <p:spPr>
          <a:xfrm>
            <a:off x="6034110" y="3694860"/>
            <a:ext cx="6017275" cy="269629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sz="160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xmlns="" id="{79A7FC4B-B776-4E1E-AFA9-B7EAB41ED8F1}"/>
              </a:ext>
            </a:extLst>
          </p:cNvPr>
          <p:cNvSpPr/>
          <p:nvPr/>
        </p:nvSpPr>
        <p:spPr>
          <a:xfrm>
            <a:off x="6667594" y="3155712"/>
            <a:ext cx="905327" cy="948066"/>
          </a:xfrm>
          <a:prstGeom prst="downArrow">
            <a:avLst/>
          </a:prstGeom>
          <a:solidFill>
            <a:srgbClr val="C0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zh-CN" altLang="en-US" sz="1600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1909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Background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56664" y="2046507"/>
            <a:ext cx="11580552" cy="191589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zh-CN" sz="2000" dirty="0" smtClean="0"/>
              <a:t>With the development of streaming, cloud games, VR/AR, auto driving, there appears emerging requirements for network quality, especially under high throughput scenario. </a:t>
            </a:r>
            <a:r>
              <a:rPr lang="en-US" altLang="zh-CN" sz="2000" dirty="0" smtClean="0"/>
              <a:t>Network Slicing can </a:t>
            </a:r>
            <a:r>
              <a:rPr lang="en-US" altLang="zh-CN" sz="2000" dirty="0" smtClean="0"/>
              <a:t>better meet this need.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2000" dirty="0" smtClean="0"/>
              <a:t>So we propose </a:t>
            </a:r>
            <a:r>
              <a:rPr lang="en-US" altLang="zh-CN" sz="2000" dirty="0" smtClean="0"/>
              <a:t>Network Slicing API</a:t>
            </a:r>
            <a:r>
              <a:rPr lang="en-US" altLang="zh-CN" sz="2000" dirty="0" smtClean="0"/>
              <a:t>, which can allow users to book a slice network service, under customized location within customized duration.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0" y="4292388"/>
            <a:ext cx="2590329" cy="1790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014" y="4282334"/>
            <a:ext cx="2646689" cy="18272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424" y="4281487"/>
            <a:ext cx="2787016" cy="183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4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 4">
            <a:extLst>
              <a:ext uri="{FF2B5EF4-FFF2-40B4-BE49-F238E27FC236}">
                <a16:creationId xmlns:a16="http://schemas.microsoft.com/office/drawing/2014/main" xmlns="" id="{F59A99F3-E804-4C5A-A779-5050DD40AEDE}"/>
              </a:ext>
            </a:extLst>
          </p:cNvPr>
          <p:cNvSpPr txBox="1">
            <a:spLocks/>
          </p:cNvSpPr>
          <p:nvPr/>
        </p:nvSpPr>
        <p:spPr>
          <a:xfrm>
            <a:off x="184108" y="357418"/>
            <a:ext cx="7536128" cy="69346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66687" fontAlgn="base">
              <a:spcAft>
                <a:spcPct val="0"/>
              </a:spcAft>
              <a:defRPr/>
            </a:pPr>
            <a:r>
              <a:rPr lang="en-US" altLang="zh-CN" sz="2399" b="1" dirty="0" smtClean="0">
                <a:solidFill>
                  <a:schemeClr val="bg1"/>
                </a:solidFill>
                <a:ea typeface="华文细黑"/>
              </a:rPr>
              <a:t>Automatic Slice Management and Assurance Capabilities to Support Network Slicing Scenario</a:t>
            </a:r>
            <a:endParaRPr lang="zh-CN" altLang="zh-CN" sz="2399" b="1" dirty="0">
              <a:solidFill>
                <a:schemeClr val="bg1"/>
              </a:solidFill>
              <a:ea typeface="华文细黑"/>
            </a:endParaRPr>
          </a:p>
        </p:txBody>
      </p:sp>
      <p:sp>
        <p:nvSpPr>
          <p:cNvPr id="112" name="流程图: 过程 111">
            <a:extLst>
              <a:ext uri="{FF2B5EF4-FFF2-40B4-BE49-F238E27FC236}">
                <a16:creationId xmlns:a16="http://schemas.microsoft.com/office/drawing/2014/main" xmlns="" id="{B2BD4560-CD5F-4CD3-9615-7EE89DC6BC19}"/>
              </a:ext>
            </a:extLst>
          </p:cNvPr>
          <p:cNvSpPr/>
          <p:nvPr/>
        </p:nvSpPr>
        <p:spPr>
          <a:xfrm>
            <a:off x="1297368" y="4802232"/>
            <a:ext cx="9923477" cy="1126560"/>
          </a:xfrm>
          <a:prstGeom prst="flowChartProcess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Other Domain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3" name="流程图: 过程 112">
            <a:extLst>
              <a:ext uri="{FF2B5EF4-FFF2-40B4-BE49-F238E27FC236}">
                <a16:creationId xmlns:a16="http://schemas.microsoft.com/office/drawing/2014/main" xmlns="" id="{54D5976C-DD23-4014-86A1-39489AB49770}"/>
              </a:ext>
            </a:extLst>
          </p:cNvPr>
          <p:cNvSpPr/>
          <p:nvPr/>
        </p:nvSpPr>
        <p:spPr>
          <a:xfrm>
            <a:off x="1070934" y="5048152"/>
            <a:ext cx="10092675" cy="1316711"/>
          </a:xfrm>
          <a:prstGeom prst="flowChartProcess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RAN Domain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4" name="流程图: 过程 113">
            <a:extLst>
              <a:ext uri="{FF2B5EF4-FFF2-40B4-BE49-F238E27FC236}">
                <a16:creationId xmlns:a16="http://schemas.microsoft.com/office/drawing/2014/main" xmlns="" id="{CC7C5AAF-0AB0-4CE3-A723-9FC2CD719403}"/>
              </a:ext>
            </a:extLst>
          </p:cNvPr>
          <p:cNvSpPr/>
          <p:nvPr/>
        </p:nvSpPr>
        <p:spPr>
          <a:xfrm>
            <a:off x="1070934" y="3114947"/>
            <a:ext cx="10092675" cy="1057681"/>
          </a:xfrm>
          <a:prstGeom prst="flowChartProcess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OpenGateway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/CSMF/NSMF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5" name="矩形: 圆角 56">
            <a:extLst>
              <a:ext uri="{FF2B5EF4-FFF2-40B4-BE49-F238E27FC236}">
                <a16:creationId xmlns:a16="http://schemas.microsoft.com/office/drawing/2014/main" xmlns="" id="{C5A20AF7-E36B-4056-9C34-12B20FD0BD5E}"/>
              </a:ext>
            </a:extLst>
          </p:cNvPr>
          <p:cNvSpPr/>
          <p:nvPr/>
        </p:nvSpPr>
        <p:spPr>
          <a:xfrm>
            <a:off x="2704869" y="3456356"/>
            <a:ext cx="1495168" cy="445271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Slice SLA </a:t>
            </a: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Pre-Evaluation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xmlns="" id="{A36C3EFE-F363-47D2-9D26-AAFF078BA49F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3452453" y="2386847"/>
            <a:ext cx="0" cy="1069508"/>
          </a:xfrm>
          <a:prstGeom prst="straightConnector1">
            <a:avLst/>
          </a:prstGeom>
          <a:noFill/>
          <a:ln w="28575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17" name="矩形: 圆角 61">
            <a:extLst>
              <a:ext uri="{FF2B5EF4-FFF2-40B4-BE49-F238E27FC236}">
                <a16:creationId xmlns:a16="http://schemas.microsoft.com/office/drawing/2014/main" xmlns="" id="{2C9C3D27-AB3F-4959-ABFE-F36BE1D99640}"/>
              </a:ext>
            </a:extLst>
          </p:cNvPr>
          <p:cNvSpPr/>
          <p:nvPr/>
        </p:nvSpPr>
        <p:spPr>
          <a:xfrm>
            <a:off x="5813116" y="3456355"/>
            <a:ext cx="1495168" cy="431831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Slice Provision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8" name="矩形: 圆角 66">
            <a:extLst>
              <a:ext uri="{FF2B5EF4-FFF2-40B4-BE49-F238E27FC236}">
                <a16:creationId xmlns:a16="http://schemas.microsoft.com/office/drawing/2014/main" xmlns="" id="{4D6A9C36-E9BE-47EB-B884-C706E11D2876}"/>
              </a:ext>
            </a:extLst>
          </p:cNvPr>
          <p:cNvSpPr/>
          <p:nvPr/>
        </p:nvSpPr>
        <p:spPr>
          <a:xfrm>
            <a:off x="5813116" y="5277725"/>
            <a:ext cx="1495168" cy="575775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Automatic provisioning in minutes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9" name="矩形: 圆角 71">
            <a:extLst>
              <a:ext uri="{FF2B5EF4-FFF2-40B4-BE49-F238E27FC236}">
                <a16:creationId xmlns:a16="http://schemas.microsoft.com/office/drawing/2014/main" xmlns="" id="{18D0350A-0798-4195-BD57-76B78790A5FA}"/>
              </a:ext>
            </a:extLst>
          </p:cNvPr>
          <p:cNvSpPr/>
          <p:nvPr/>
        </p:nvSpPr>
        <p:spPr>
          <a:xfrm>
            <a:off x="2704869" y="5277725"/>
            <a:ext cx="1495168" cy="575775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Evaluate whether the SLA is met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xmlns="" id="{35E00D50-4C02-453E-B2EB-E8AD6F47CDBA}"/>
              </a:ext>
            </a:extLst>
          </p:cNvPr>
          <p:cNvCxnSpPr>
            <a:cxnSpLocks/>
            <a:stCxn id="115" idx="2"/>
            <a:endCxn id="119" idx="0"/>
          </p:cNvCxnSpPr>
          <p:nvPr/>
        </p:nvCxnSpPr>
        <p:spPr>
          <a:xfrm>
            <a:off x="3452453" y="3901626"/>
            <a:ext cx="0" cy="1376098"/>
          </a:xfrm>
          <a:prstGeom prst="straightConnector1">
            <a:avLst/>
          </a:prstGeom>
          <a:noFill/>
          <a:ln w="28575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xmlns="" id="{ADA7EA3D-5A64-46C9-AF82-28DB349BABB4}"/>
              </a:ext>
            </a:extLst>
          </p:cNvPr>
          <p:cNvCxnSpPr>
            <a:cxnSpLocks/>
            <a:stCxn id="117" idx="2"/>
            <a:endCxn id="118" idx="0"/>
          </p:cNvCxnSpPr>
          <p:nvPr/>
        </p:nvCxnSpPr>
        <p:spPr>
          <a:xfrm>
            <a:off x="6560700" y="3888187"/>
            <a:ext cx="0" cy="1389538"/>
          </a:xfrm>
          <a:prstGeom prst="straightConnector1">
            <a:avLst/>
          </a:prstGeom>
          <a:noFill/>
          <a:ln w="28575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xmlns="" id="{687E64E7-2FC4-4E7A-9C82-916FC18E8483}"/>
              </a:ext>
            </a:extLst>
          </p:cNvPr>
          <p:cNvSpPr/>
          <p:nvPr/>
        </p:nvSpPr>
        <p:spPr>
          <a:xfrm>
            <a:off x="852957" y="2600607"/>
            <a:ext cx="1200181" cy="307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12">
              <a:defRPr/>
            </a:pPr>
            <a:r>
              <a:rPr lang="en-US" altLang="zh-CN" sz="1399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Service API</a:t>
            </a:r>
            <a:endParaRPr lang="zh-CN" altLang="en-US" sz="1399" b="1" dirty="0">
              <a:solidFill>
                <a:srgbClr val="0070C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xmlns="" id="{D41CDA18-D882-4AC7-AE7A-90950078094C}"/>
              </a:ext>
            </a:extLst>
          </p:cNvPr>
          <p:cNvSpPr/>
          <p:nvPr/>
        </p:nvSpPr>
        <p:spPr>
          <a:xfrm>
            <a:off x="852957" y="4407212"/>
            <a:ext cx="1233895" cy="307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12">
              <a:defRPr/>
            </a:pPr>
            <a:r>
              <a:rPr lang="en-US" altLang="zh-CN" sz="1399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Network API</a:t>
            </a:r>
            <a:endParaRPr lang="zh-CN" altLang="en-US" sz="1399" b="1" dirty="0">
              <a:solidFill>
                <a:srgbClr val="0070C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4" name="流程图: 过程 123">
            <a:extLst>
              <a:ext uri="{FF2B5EF4-FFF2-40B4-BE49-F238E27FC236}">
                <a16:creationId xmlns:a16="http://schemas.microsoft.com/office/drawing/2014/main" xmlns="" id="{747402D1-670E-47F5-9392-C4417C5501CB}"/>
              </a:ext>
            </a:extLst>
          </p:cNvPr>
          <p:cNvSpPr/>
          <p:nvPr/>
        </p:nvSpPr>
        <p:spPr>
          <a:xfrm>
            <a:off x="1058661" y="1808236"/>
            <a:ext cx="10092675" cy="719760"/>
          </a:xfrm>
          <a:prstGeom prst="flowChartProcess">
            <a:avLst/>
          </a:prstGeom>
          <a:solidFill>
            <a:srgbClr val="C6D9F1">
              <a:alpha val="20000"/>
            </a:srgbClr>
          </a:solidFill>
          <a:ln w="1270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Application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5" name="矩形: 圆角 85">
            <a:extLst>
              <a:ext uri="{FF2B5EF4-FFF2-40B4-BE49-F238E27FC236}">
                <a16:creationId xmlns:a16="http://schemas.microsoft.com/office/drawing/2014/main" xmlns="" id="{6EE0FF83-A876-4CA2-A4FD-5F5D2D76EB2B}"/>
              </a:ext>
            </a:extLst>
          </p:cNvPr>
          <p:cNvSpPr/>
          <p:nvPr/>
        </p:nvSpPr>
        <p:spPr>
          <a:xfrm>
            <a:off x="2274117" y="1087602"/>
            <a:ext cx="2361820" cy="5579773"/>
          </a:xfrm>
          <a:prstGeom prst="roundRect">
            <a:avLst>
              <a:gd name="adj" fmla="val 5664"/>
            </a:avLst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6" name="矩形: 圆角 86">
            <a:extLst>
              <a:ext uri="{FF2B5EF4-FFF2-40B4-BE49-F238E27FC236}">
                <a16:creationId xmlns:a16="http://schemas.microsoft.com/office/drawing/2014/main" xmlns="" id="{C4FCCB4B-644F-472F-8937-BAF94538C8F5}"/>
              </a:ext>
            </a:extLst>
          </p:cNvPr>
          <p:cNvSpPr/>
          <p:nvPr/>
        </p:nvSpPr>
        <p:spPr>
          <a:xfrm>
            <a:off x="5335054" y="1087602"/>
            <a:ext cx="2361820" cy="5579773"/>
          </a:xfrm>
          <a:prstGeom prst="roundRect">
            <a:avLst>
              <a:gd name="adj" fmla="val 5664"/>
            </a:avLst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矩形: 圆角 87">
            <a:extLst>
              <a:ext uri="{FF2B5EF4-FFF2-40B4-BE49-F238E27FC236}">
                <a16:creationId xmlns:a16="http://schemas.microsoft.com/office/drawing/2014/main" xmlns="" id="{9265F150-FB38-4BC1-82A9-4D21FA1FC67A}"/>
              </a:ext>
            </a:extLst>
          </p:cNvPr>
          <p:cNvSpPr/>
          <p:nvPr/>
        </p:nvSpPr>
        <p:spPr>
          <a:xfrm>
            <a:off x="8395992" y="1087602"/>
            <a:ext cx="2361820" cy="4557501"/>
          </a:xfrm>
          <a:prstGeom prst="roundRect">
            <a:avLst>
              <a:gd name="adj" fmla="val 5664"/>
            </a:avLst>
          </a:prstGeom>
          <a:noFill/>
          <a:ln w="190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xmlns="" id="{82CDE593-E5D0-4CD9-95E7-37A09DBA7747}"/>
              </a:ext>
            </a:extLst>
          </p:cNvPr>
          <p:cNvSpPr/>
          <p:nvPr/>
        </p:nvSpPr>
        <p:spPr>
          <a:xfrm>
            <a:off x="5777694" y="1177128"/>
            <a:ext cx="1381570" cy="338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12">
              <a:defRPr/>
            </a:pPr>
            <a:r>
              <a:rPr lang="en-US" altLang="zh-CN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② P</a:t>
            </a:r>
            <a:r>
              <a:rPr lang="zh-CN" altLang="en-US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rovision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xmlns="" id="{A18623D9-9A1F-493D-ABA5-AF140920A6CF}"/>
              </a:ext>
            </a:extLst>
          </p:cNvPr>
          <p:cNvSpPr/>
          <p:nvPr/>
        </p:nvSpPr>
        <p:spPr>
          <a:xfrm>
            <a:off x="8534059" y="1177128"/>
            <a:ext cx="1966822" cy="338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12">
              <a:defRPr/>
            </a:pPr>
            <a:r>
              <a:rPr lang="en-US" altLang="zh-CN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③ SLA Monitoring</a:t>
            </a:r>
            <a:endParaRPr lang="zh-CN" altLang="en-US" sz="1599" b="1" dirty="0">
              <a:solidFill>
                <a:srgbClr val="C00000"/>
              </a:solidFill>
              <a:latin typeface="Arial" panose="020B0604020202020204" pitchFamily="34" charset="0"/>
              <a:ea typeface="华文细黑"/>
              <a:cs typeface="Arial" panose="020B0604020202020204" pitchFamily="34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xmlns="" id="{565881CA-96BD-440B-A6FC-4D9B9CF34289}"/>
              </a:ext>
            </a:extLst>
          </p:cNvPr>
          <p:cNvSpPr/>
          <p:nvPr/>
        </p:nvSpPr>
        <p:spPr>
          <a:xfrm>
            <a:off x="2402568" y="1177128"/>
            <a:ext cx="1940799" cy="338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12">
              <a:defRPr/>
            </a:pPr>
            <a:r>
              <a:rPr lang="en-US" altLang="zh-CN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① P</a:t>
            </a:r>
            <a:r>
              <a:rPr lang="zh-CN" altLang="zh-CN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re-</a:t>
            </a:r>
            <a:r>
              <a:rPr lang="en-US" altLang="zh-CN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E</a:t>
            </a:r>
            <a:r>
              <a:rPr lang="zh-CN" altLang="zh-CN" sz="1599" b="1" dirty="0">
                <a:solidFill>
                  <a:srgbClr val="C00000"/>
                </a:solidFill>
                <a:latin typeface="Arial" panose="020B0604020202020204" pitchFamily="34" charset="0"/>
                <a:ea typeface="华文细黑"/>
                <a:cs typeface="Arial" panose="020B0604020202020204" pitchFamily="34" charset="0"/>
              </a:rPr>
              <a:t>valuation </a:t>
            </a:r>
          </a:p>
        </p:txBody>
      </p:sp>
      <p:sp>
        <p:nvSpPr>
          <p:cNvPr id="131" name="矩形: 圆角 91">
            <a:extLst>
              <a:ext uri="{FF2B5EF4-FFF2-40B4-BE49-F238E27FC236}">
                <a16:creationId xmlns:a16="http://schemas.microsoft.com/office/drawing/2014/main" xmlns="" id="{C9A6A3BE-A65C-4AB0-B2B8-DCCB4B1A8FCA}"/>
              </a:ext>
            </a:extLst>
          </p:cNvPr>
          <p:cNvSpPr/>
          <p:nvPr/>
        </p:nvSpPr>
        <p:spPr>
          <a:xfrm>
            <a:off x="8645792" y="5110405"/>
            <a:ext cx="1965126" cy="29466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Monitoring and RCA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xmlns="" id="{6C6BB4F1-BF7D-4D13-B747-040D13C0875A}"/>
              </a:ext>
            </a:extLst>
          </p:cNvPr>
          <p:cNvCxnSpPr>
            <a:cxnSpLocks/>
            <a:stCxn id="131" idx="0"/>
            <a:endCxn id="133" idx="2"/>
          </p:cNvCxnSpPr>
          <p:nvPr/>
        </p:nvCxnSpPr>
        <p:spPr>
          <a:xfrm flipV="1">
            <a:off x="9628355" y="3877968"/>
            <a:ext cx="7803" cy="1232437"/>
          </a:xfrm>
          <a:prstGeom prst="straightConnector1">
            <a:avLst/>
          </a:prstGeom>
          <a:noFill/>
          <a:ln w="28575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133" name="矩形: 圆角 93">
            <a:extLst>
              <a:ext uri="{FF2B5EF4-FFF2-40B4-BE49-F238E27FC236}">
                <a16:creationId xmlns:a16="http://schemas.microsoft.com/office/drawing/2014/main" xmlns="" id="{0EDFA3B1-BC46-4944-AFBD-3C15646BBA09}"/>
              </a:ext>
            </a:extLst>
          </p:cNvPr>
          <p:cNvSpPr/>
          <p:nvPr/>
        </p:nvSpPr>
        <p:spPr>
          <a:xfrm>
            <a:off x="8888574" y="3446137"/>
            <a:ext cx="1495168" cy="431831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Slice-level Monitoring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xmlns="" id="{0EFB786A-6171-40E7-AD4E-E9AEE11642A0}"/>
              </a:ext>
            </a:extLst>
          </p:cNvPr>
          <p:cNvSpPr/>
          <p:nvPr/>
        </p:nvSpPr>
        <p:spPr>
          <a:xfrm>
            <a:off x="8630957" y="4435441"/>
            <a:ext cx="2010407" cy="2768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2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Monitoring Network APIs</a:t>
            </a:r>
            <a:endParaRPr lang="zh-CN" altLang="en-US" sz="12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xmlns="" id="{87FF1341-33D5-4C1F-A4CC-F3438E4FC063}"/>
              </a:ext>
            </a:extLst>
          </p:cNvPr>
          <p:cNvSpPr/>
          <p:nvPr/>
        </p:nvSpPr>
        <p:spPr>
          <a:xfrm>
            <a:off x="5611782" y="4439401"/>
            <a:ext cx="1914264" cy="2768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2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Provision Network APIs</a:t>
            </a:r>
            <a:endParaRPr lang="zh-CN" altLang="en-US" sz="12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xmlns="" id="{47B9B7B0-68AC-459F-A8E3-44969C3680FC}"/>
              </a:ext>
            </a:extLst>
          </p:cNvPr>
          <p:cNvSpPr/>
          <p:nvPr/>
        </p:nvSpPr>
        <p:spPr>
          <a:xfrm>
            <a:off x="2337319" y="4450631"/>
            <a:ext cx="2289220" cy="2768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2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Pre-Evaluation Network APIs</a:t>
            </a:r>
            <a:endParaRPr lang="zh-CN" altLang="en-US" sz="12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xmlns="" id="{ABED47CD-CE62-47FF-B3AB-BFAE38047D0B}"/>
              </a:ext>
            </a:extLst>
          </p:cNvPr>
          <p:cNvSpPr/>
          <p:nvPr/>
        </p:nvSpPr>
        <p:spPr>
          <a:xfrm>
            <a:off x="2104447" y="2619382"/>
            <a:ext cx="27549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2">
              <a:defRPr/>
            </a:pPr>
            <a:r>
              <a:rPr lang="en-US" altLang="zh-CN" sz="1200" b="1" dirty="0" smtClean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Network Slicing Pre-Evaluation API</a:t>
            </a:r>
            <a:endParaRPr lang="zh-CN" altLang="en-US" sz="12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ABED47CD-CE62-47FF-B3AB-BFAE38047D0B}"/>
              </a:ext>
            </a:extLst>
          </p:cNvPr>
          <p:cNvSpPr/>
          <p:nvPr/>
        </p:nvSpPr>
        <p:spPr>
          <a:xfrm>
            <a:off x="5192566" y="2618359"/>
            <a:ext cx="25417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2">
              <a:defRPr/>
            </a:pPr>
            <a:r>
              <a:rPr lang="en-US" altLang="zh-CN" sz="1200" b="1" dirty="0" smtClean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Network Slicing On Demand API</a:t>
            </a:r>
            <a:endParaRPr lang="zh-CN" altLang="en-US" sz="12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ABED47CD-CE62-47FF-B3AB-BFAE38047D0B}"/>
              </a:ext>
            </a:extLst>
          </p:cNvPr>
          <p:cNvSpPr/>
          <p:nvPr/>
        </p:nvSpPr>
        <p:spPr>
          <a:xfrm>
            <a:off x="8292862" y="2641883"/>
            <a:ext cx="2476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112">
              <a:defRPr/>
            </a:pPr>
            <a:r>
              <a:rPr lang="en-US" altLang="zh-CN" sz="1200" b="1" dirty="0" smtClean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Network Slicing Monitoring API</a:t>
            </a:r>
            <a:endParaRPr lang="zh-CN" altLang="en-US" sz="12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90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5712" y="389467"/>
            <a:ext cx="7055273" cy="82994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SLA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Network Slicing,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Based on Network Slice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="" xmlns:a16="http://schemas.microsoft.com/office/drawing/2014/main" id="{C718F109-7CAC-487B-BDAD-F56F31F8E12E}"/>
              </a:ext>
            </a:extLst>
          </p:cNvPr>
          <p:cNvGrpSpPr/>
          <p:nvPr/>
        </p:nvGrpSpPr>
        <p:grpSpPr>
          <a:xfrm>
            <a:off x="2267468" y="4727659"/>
            <a:ext cx="3573953" cy="1720555"/>
            <a:chOff x="7246811" y="3593821"/>
            <a:chExt cx="3573953" cy="1786593"/>
          </a:xfrm>
        </p:grpSpPr>
        <p:sp>
          <p:nvSpPr>
            <p:cNvPr id="81" name="矩形: 圆角 75">
              <a:extLst>
                <a:ext uri="{FF2B5EF4-FFF2-40B4-BE49-F238E27FC236}">
                  <a16:creationId xmlns="" xmlns:a16="http://schemas.microsoft.com/office/drawing/2014/main" id="{98894A49-7AC4-4ADB-A687-223222F1B488}"/>
                </a:ext>
              </a:extLst>
            </p:cNvPr>
            <p:cNvSpPr/>
            <p:nvPr/>
          </p:nvSpPr>
          <p:spPr>
            <a:xfrm>
              <a:off x="7246811" y="3593821"/>
              <a:ext cx="3573953" cy="1786593"/>
            </a:xfrm>
            <a:prstGeom prst="roundRect">
              <a:avLst>
                <a:gd name="adj" fmla="val 4510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Management Plane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="" xmlns:a16="http://schemas.microsoft.com/office/drawing/2014/main" id="{98D6DDF7-0017-46AA-9251-7CA682C2327D}"/>
                </a:ext>
              </a:extLst>
            </p:cNvPr>
            <p:cNvSpPr txBox="1"/>
            <p:nvPr/>
          </p:nvSpPr>
          <p:spPr>
            <a:xfrm>
              <a:off x="7502187" y="4541521"/>
              <a:ext cx="3092694" cy="657709"/>
            </a:xfrm>
            <a:prstGeom prst="rect">
              <a:avLst/>
            </a:prstGeom>
            <a:solidFill>
              <a:srgbClr val="DDDDDD"/>
            </a:solidFill>
          </p:spPr>
          <p:txBody>
            <a:bodyPr wrap="square" lIns="0" tIns="108000" rIns="0" bIns="0" rtlCol="0" anchor="t"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5G RAN</a:t>
              </a:r>
              <a:endPara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="" xmlns:a16="http://schemas.microsoft.com/office/drawing/2014/main" id="{BC6B0C6C-A083-4DC2-BBDD-A715FA568D7F}"/>
                </a:ext>
              </a:extLst>
            </p:cNvPr>
            <p:cNvSpPr txBox="1"/>
            <p:nvPr/>
          </p:nvSpPr>
          <p:spPr>
            <a:xfrm>
              <a:off x="7502187" y="3890654"/>
              <a:ext cx="3092692" cy="398793"/>
            </a:xfrm>
            <a:prstGeom prst="rect">
              <a:avLst/>
            </a:prstGeom>
            <a:solidFill>
              <a:srgbClr val="DDDDDD"/>
            </a:solidFill>
          </p:spPr>
          <p:txBody>
            <a:bodyPr wrap="square" lIns="0" tIns="36000" rIns="0" bIns="36000" rtlCol="0" anchor="ctr"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="" xmlns:a16="http://schemas.microsoft.com/office/drawing/2014/main" id="{0BAD5A56-BD9E-4A17-BC67-99279962F541}"/>
                </a:ext>
              </a:extLst>
            </p:cNvPr>
            <p:cNvCxnSpPr>
              <a:cxnSpLocks/>
              <a:stCxn id="83" idx="2"/>
              <a:endCxn id="82" idx="0"/>
            </p:cNvCxnSpPr>
            <p:nvPr/>
          </p:nvCxnSpPr>
          <p:spPr>
            <a:xfrm>
              <a:off x="9048533" y="4289447"/>
              <a:ext cx="1" cy="252074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85" name="TextBox 7">
            <a:extLst>
              <a:ext uri="{FF2B5EF4-FFF2-40B4-BE49-F238E27FC236}">
                <a16:creationId xmlns=""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897918" y="-835269"/>
            <a:ext cx="184539" cy="527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564">
              <a:lnSpc>
                <a:spcPts val="3438"/>
              </a:lnSpc>
              <a:defRPr/>
            </a:pPr>
            <a:endParaRPr lang="en-US" sz="3198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="" xmlns:a16="http://schemas.microsoft.com/office/drawing/2014/main" id="{DAD57CF9-30E3-4EDB-9939-D34B41B95B8A}"/>
              </a:ext>
            </a:extLst>
          </p:cNvPr>
          <p:cNvSpPr txBox="1"/>
          <p:nvPr/>
        </p:nvSpPr>
        <p:spPr>
          <a:xfrm>
            <a:off x="2210045" y="2358243"/>
            <a:ext cx="8640000" cy="1218015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>
            <a:solidFill>
              <a:srgbClr val="1D1D1A"/>
            </a:solidFill>
          </a:ln>
        </p:spPr>
        <p:txBody>
          <a:bodyPr wrap="square" lIns="0" tIns="36000" rIns="108000" bIns="0" rtlCol="0" anchor="t">
            <a:noAutofit/>
          </a:bodyPr>
          <a:lstStyle/>
          <a:p>
            <a:pPr marL="0" marR="0" lvl="0" indent="0" algn="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③ </a:t>
            </a:r>
            <a:r>
              <a:rPr kumimoji="1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NaaS</a:t>
            </a: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Platform</a:t>
            </a:r>
            <a:endParaRPr kumimoji="1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="" xmlns:a16="http://schemas.microsoft.com/office/drawing/2014/main" id="{316AE72C-E9D3-4A40-9ED7-03CB76668AA1}"/>
              </a:ext>
            </a:extLst>
          </p:cNvPr>
          <p:cNvSpPr txBox="1"/>
          <p:nvPr/>
        </p:nvSpPr>
        <p:spPr>
          <a:xfrm>
            <a:off x="2189726" y="1866105"/>
            <a:ext cx="8640000" cy="398793"/>
          </a:xfrm>
          <a:prstGeom prst="rect">
            <a:avLst/>
          </a:prstGeom>
          <a:solidFill>
            <a:srgbClr val="DDDD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-10" normalizeH="0" baseline="0" noProof="0" dirty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Application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="" xmlns:a16="http://schemas.microsoft.com/office/drawing/2014/main" id="{B94179BF-CFE5-4FFF-9332-9DDECD014CA7}"/>
              </a:ext>
            </a:extLst>
          </p:cNvPr>
          <p:cNvSpPr txBox="1"/>
          <p:nvPr/>
        </p:nvSpPr>
        <p:spPr>
          <a:xfrm>
            <a:off x="2839769" y="2592108"/>
            <a:ext cx="7200000" cy="265862"/>
          </a:xfrm>
          <a:prstGeom prst="rect">
            <a:avLst/>
          </a:prstGeom>
          <a:solidFill>
            <a:srgbClr val="DFF3D2"/>
          </a:solidFill>
          <a:ln>
            <a:solidFill>
              <a:srgbClr val="1D1D1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External API Gateway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="" xmlns:a16="http://schemas.microsoft.com/office/drawing/2014/main" id="{91A22F68-048C-4B23-AC69-A94A3EFDBF9D}"/>
              </a:ext>
            </a:extLst>
          </p:cNvPr>
          <p:cNvSpPr/>
          <p:nvPr/>
        </p:nvSpPr>
        <p:spPr>
          <a:xfrm>
            <a:off x="1881617" y="5629512"/>
            <a:ext cx="5437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Slice</a:t>
            </a:r>
            <a:endParaRPr lang="zh-CN" altLang="en-US" sz="1200" dirty="0">
              <a:solidFill>
                <a:srgbClr val="1D1D1A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="" xmlns:a16="http://schemas.microsoft.com/office/drawing/2014/main" id="{E131BAD6-B011-48C6-BE9D-2B9F4D018AB1}"/>
              </a:ext>
            </a:extLst>
          </p:cNvPr>
          <p:cNvSpPr/>
          <p:nvPr/>
        </p:nvSpPr>
        <p:spPr>
          <a:xfrm>
            <a:off x="7761282" y="1907142"/>
            <a:ext cx="30775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① </a:t>
            </a:r>
            <a:r>
              <a:rPr lang="en-US" altLang="zh-CN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New API</a:t>
            </a:r>
            <a:r>
              <a:rPr lang="en-US" altLang="zh-CN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Network Slicing APIs</a:t>
            </a:r>
            <a:endParaRPr lang="en-US" altLang="zh-CN" sz="1400" i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="" xmlns:a16="http://schemas.microsoft.com/office/drawing/2014/main" id="{88A77346-9BB8-44F1-861A-E15FD9AE67CC}"/>
              </a:ext>
            </a:extLst>
          </p:cNvPr>
          <p:cNvCxnSpPr>
            <a:cxnSpLocks/>
          </p:cNvCxnSpPr>
          <p:nvPr/>
        </p:nvCxnSpPr>
        <p:spPr>
          <a:xfrm>
            <a:off x="6471055" y="2243653"/>
            <a:ext cx="4252" cy="343760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lgDash"/>
            <a:miter lim="800000"/>
            <a:tailEnd type="triangle"/>
          </a:ln>
          <a:effectLst/>
        </p:spPr>
      </p:cxnSp>
      <p:sp>
        <p:nvSpPr>
          <p:cNvPr id="100" name="文本框 99">
            <a:extLst>
              <a:ext uri="{FF2B5EF4-FFF2-40B4-BE49-F238E27FC236}">
                <a16:creationId xmlns="" xmlns:a16="http://schemas.microsoft.com/office/drawing/2014/main" id="{B1AEC848-003B-4CD8-A617-1644FA1E8EBD}"/>
              </a:ext>
            </a:extLst>
          </p:cNvPr>
          <p:cNvSpPr txBox="1"/>
          <p:nvPr/>
        </p:nvSpPr>
        <p:spPr>
          <a:xfrm>
            <a:off x="2846543" y="2901655"/>
            <a:ext cx="7200000" cy="265862"/>
          </a:xfrm>
          <a:prstGeom prst="rect">
            <a:avLst/>
          </a:prstGeom>
          <a:solidFill>
            <a:srgbClr val="DFF3D2"/>
          </a:solidFill>
          <a:ln>
            <a:solidFill>
              <a:srgbClr val="1D1D1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Transformation Function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="" xmlns:a16="http://schemas.microsoft.com/office/drawing/2014/main" id="{08FFA8BD-A770-4B8D-907E-CD5E66E03747}"/>
              </a:ext>
            </a:extLst>
          </p:cNvPr>
          <p:cNvSpPr txBox="1"/>
          <p:nvPr/>
        </p:nvSpPr>
        <p:spPr>
          <a:xfrm>
            <a:off x="2846543" y="3217974"/>
            <a:ext cx="7200000" cy="265862"/>
          </a:xfrm>
          <a:prstGeom prst="rect">
            <a:avLst/>
          </a:prstGeom>
          <a:solidFill>
            <a:srgbClr val="DFF3D2"/>
          </a:solidFill>
          <a:ln>
            <a:solidFill>
              <a:srgbClr val="1D1D1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Internal API Gateway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="" xmlns:a16="http://schemas.microsoft.com/office/drawing/2014/main" id="{3F15E90F-B7CF-4D6B-8771-450B8515563B}"/>
              </a:ext>
            </a:extLst>
          </p:cNvPr>
          <p:cNvSpPr/>
          <p:nvPr/>
        </p:nvSpPr>
        <p:spPr>
          <a:xfrm>
            <a:off x="613313" y="1968130"/>
            <a:ext cx="1067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78">
              <a:defRPr/>
            </a:pPr>
            <a:r>
              <a:rPr lang="en-US" altLang="zh-CN" sz="1200" b="1" dirty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Service API 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="" xmlns:a16="http://schemas.microsoft.com/office/drawing/2014/main" id="{51B2A4C0-411C-4801-808B-38F2326C7743}"/>
              </a:ext>
            </a:extLst>
          </p:cNvPr>
          <p:cNvSpPr/>
          <p:nvPr/>
        </p:nvSpPr>
        <p:spPr>
          <a:xfrm>
            <a:off x="488870" y="2880824"/>
            <a:ext cx="12346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78">
              <a:defRPr/>
            </a:pPr>
            <a:r>
              <a:rPr lang="en-US" altLang="zh-CN" sz="1200" b="1" dirty="0" err="1" smtClean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NaaS</a:t>
            </a:r>
            <a:r>
              <a:rPr lang="en-US" altLang="zh-CN" sz="1200" b="1" dirty="0" smtClean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Platform</a:t>
            </a:r>
            <a:endParaRPr lang="en-US" altLang="zh-CN" sz="1200" b="1" dirty="0">
              <a:solidFill>
                <a:srgbClr val="666666">
                  <a:lumMod val="7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="" xmlns:a16="http://schemas.microsoft.com/office/drawing/2014/main" id="{D2D8C847-7C71-462E-ADDA-DB084EB19180}"/>
              </a:ext>
            </a:extLst>
          </p:cNvPr>
          <p:cNvSpPr/>
          <p:nvPr/>
        </p:nvSpPr>
        <p:spPr>
          <a:xfrm>
            <a:off x="475297" y="4123416"/>
            <a:ext cx="13024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78">
              <a:defRPr/>
            </a:pPr>
            <a:r>
              <a:rPr lang="en-US" altLang="zh-CN" sz="1200" b="1" dirty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Network </a:t>
            </a:r>
            <a:r>
              <a:rPr lang="en-US" altLang="zh-CN" sz="1200" b="1" dirty="0" smtClean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</a:p>
          <a:p>
            <a:pPr algn="ctr" defTabSz="914478">
              <a:defRPr/>
            </a:pPr>
            <a:r>
              <a:rPr lang="en-US" altLang="zh-CN" sz="1200" b="1" dirty="0" smtClean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3GPP</a:t>
            </a:r>
            <a:r>
              <a:rPr lang="en-US" altLang="zh-CN" sz="1200" b="1" dirty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 smtClean="0">
                <a:solidFill>
                  <a:srgbClr val="666666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Standard</a:t>
            </a:r>
          </a:p>
        </p:txBody>
      </p:sp>
      <p:sp>
        <p:nvSpPr>
          <p:cNvPr id="105" name="左大括号 104">
            <a:extLst>
              <a:ext uri="{FF2B5EF4-FFF2-40B4-BE49-F238E27FC236}">
                <a16:creationId xmlns="" xmlns:a16="http://schemas.microsoft.com/office/drawing/2014/main" id="{2C7C42FA-67C6-4D9C-8C0B-B1980CB76955}"/>
              </a:ext>
            </a:extLst>
          </p:cNvPr>
          <p:cNvSpPr/>
          <p:nvPr/>
        </p:nvSpPr>
        <p:spPr>
          <a:xfrm>
            <a:off x="1872775" y="2352598"/>
            <a:ext cx="252000" cy="1262844"/>
          </a:xfrm>
          <a:prstGeom prst="leftBrace">
            <a:avLst>
              <a:gd name="adj1" fmla="val 40586"/>
              <a:gd name="adj2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="" xmlns:a16="http://schemas.microsoft.com/office/drawing/2014/main" id="{C3EB1B51-B576-4981-906B-8AB9CE89E7E3}"/>
              </a:ext>
            </a:extLst>
          </p:cNvPr>
          <p:cNvSpPr/>
          <p:nvPr/>
        </p:nvSpPr>
        <p:spPr>
          <a:xfrm>
            <a:off x="2274474" y="4062525"/>
            <a:ext cx="34804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② </a:t>
            </a:r>
            <a:r>
              <a:rPr lang="en-US" altLang="zh-CN" sz="1200" b="1" dirty="0" err="1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Netwrok</a:t>
            </a:r>
            <a:r>
              <a:rPr lang="en-US" altLang="zh-CN" sz="12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API</a:t>
            </a: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Slice </a:t>
            </a:r>
            <a:r>
              <a:rPr lang="en-US" altLang="zh-CN" sz="12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PreEvaluation</a:t>
            </a:r>
            <a:r>
              <a:rPr lang="en-US" altLang="zh-CN" sz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API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Slice </a:t>
            </a:r>
            <a:r>
              <a:rPr lang="en-US" altLang="zh-CN" sz="1200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 Demand API</a:t>
            </a:r>
            <a:endParaRPr lang="en-US" altLang="zh-CN" sz="12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Slice Monitoring API</a:t>
            </a:r>
          </a:p>
        </p:txBody>
      </p:sp>
      <p:cxnSp>
        <p:nvCxnSpPr>
          <p:cNvPr id="107" name="连接符: 曲线 76">
            <a:extLst>
              <a:ext uri="{FF2B5EF4-FFF2-40B4-BE49-F238E27FC236}">
                <a16:creationId xmlns="" xmlns:a16="http://schemas.microsoft.com/office/drawing/2014/main" id="{868889BF-BC9C-448D-A7BE-C174F1F09B34}"/>
              </a:ext>
            </a:extLst>
          </p:cNvPr>
          <p:cNvCxnSpPr>
            <a:cxnSpLocks/>
            <a:stCxn id="101" idx="2"/>
            <a:endCxn id="112" idx="0"/>
          </p:cNvCxnSpPr>
          <p:nvPr/>
        </p:nvCxnSpPr>
        <p:spPr>
          <a:xfrm rot="16200000" flipH="1">
            <a:off x="7258103" y="2672275"/>
            <a:ext cx="1248604" cy="2871725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rgbClr val="E9002F"/>
            </a:solidFill>
            <a:prstDash val="dash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108" name="连接符: 曲线 78">
            <a:extLst>
              <a:ext uri="{FF2B5EF4-FFF2-40B4-BE49-F238E27FC236}">
                <a16:creationId xmlns="" xmlns:a16="http://schemas.microsoft.com/office/drawing/2014/main" id="{0F57350F-4CCB-4947-96BE-D92A8D1D906D}"/>
              </a:ext>
            </a:extLst>
          </p:cNvPr>
          <p:cNvCxnSpPr>
            <a:cxnSpLocks/>
            <a:stCxn id="81" idx="0"/>
            <a:endCxn id="101" idx="2"/>
          </p:cNvCxnSpPr>
          <p:nvPr/>
        </p:nvCxnSpPr>
        <p:spPr>
          <a:xfrm rot="5400000" flipH="1" flipV="1">
            <a:off x="4628583" y="2909698"/>
            <a:ext cx="1243822" cy="2392098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rgbClr val="E9002F"/>
            </a:solidFill>
            <a:prstDash val="dash"/>
            <a:miter lim="800000"/>
            <a:headEnd type="triangle" w="med" len="med"/>
            <a:tailEnd type="none" w="med" len="med"/>
          </a:ln>
          <a:effectLst/>
        </p:spPr>
      </p:cxnSp>
      <p:sp>
        <p:nvSpPr>
          <p:cNvPr id="109" name="矩形 108">
            <a:extLst>
              <a:ext uri="{FF2B5EF4-FFF2-40B4-BE49-F238E27FC236}">
                <a16:creationId xmlns="" xmlns:a16="http://schemas.microsoft.com/office/drawing/2014/main" id="{EA95DD06-643A-4869-A467-F15FA7E3D3B1}"/>
              </a:ext>
            </a:extLst>
          </p:cNvPr>
          <p:cNvSpPr/>
          <p:nvPr/>
        </p:nvSpPr>
        <p:spPr>
          <a:xfrm>
            <a:off x="8720547" y="3664386"/>
            <a:ext cx="1569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User Subscription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="" xmlns:a16="http://schemas.microsoft.com/office/drawing/2014/main" id="{D31149AF-1813-416D-9823-4B2D7B1A1345}"/>
              </a:ext>
            </a:extLst>
          </p:cNvPr>
          <p:cNvSpPr/>
          <p:nvPr/>
        </p:nvSpPr>
        <p:spPr>
          <a:xfrm>
            <a:off x="2434632" y="3594086"/>
            <a:ext cx="2812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Slice </a:t>
            </a:r>
            <a:r>
              <a:rPr lang="en-US" altLang="zh-CN" sz="12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Pre-Evaluation/On Demand /Monitoring</a:t>
            </a:r>
            <a:endParaRPr lang="en-US" altLang="zh-CN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11" name="组合 110">
            <a:extLst>
              <a:ext uri="{FF2B5EF4-FFF2-40B4-BE49-F238E27FC236}">
                <a16:creationId xmlns="" xmlns:a16="http://schemas.microsoft.com/office/drawing/2014/main" id="{DFA6C41E-63D2-44A2-AD32-06FE71D05C7C}"/>
              </a:ext>
            </a:extLst>
          </p:cNvPr>
          <p:cNvGrpSpPr/>
          <p:nvPr/>
        </p:nvGrpSpPr>
        <p:grpSpPr>
          <a:xfrm>
            <a:off x="7531291" y="4732440"/>
            <a:ext cx="3573953" cy="1661587"/>
            <a:chOff x="2348509" y="3593822"/>
            <a:chExt cx="3573953" cy="1661587"/>
          </a:xfrm>
        </p:grpSpPr>
        <p:sp>
          <p:nvSpPr>
            <p:cNvPr id="112" name="矩形: 圆角 44">
              <a:extLst>
                <a:ext uri="{FF2B5EF4-FFF2-40B4-BE49-F238E27FC236}">
                  <a16:creationId xmlns="" xmlns:a16="http://schemas.microsoft.com/office/drawing/2014/main" id="{55C0D593-F4DB-4CEC-8722-BFFA6E129696}"/>
                </a:ext>
              </a:extLst>
            </p:cNvPr>
            <p:cNvSpPr/>
            <p:nvPr/>
          </p:nvSpPr>
          <p:spPr>
            <a:xfrm>
              <a:off x="2348509" y="3593822"/>
              <a:ext cx="3573953" cy="1661587"/>
            </a:xfrm>
            <a:prstGeom prst="roundRect">
              <a:avLst>
                <a:gd name="adj" fmla="val 4510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Control Plane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="" xmlns:a16="http://schemas.microsoft.com/office/drawing/2014/main" id="{6C64CCEB-3DD4-4DB5-B375-E06A7252D78E}"/>
                </a:ext>
              </a:extLst>
            </p:cNvPr>
            <p:cNvSpPr txBox="1"/>
            <p:nvPr/>
          </p:nvSpPr>
          <p:spPr>
            <a:xfrm>
              <a:off x="2451732" y="3981307"/>
              <a:ext cx="3361509" cy="1030262"/>
            </a:xfrm>
            <a:prstGeom prst="rect">
              <a:avLst/>
            </a:prstGeom>
            <a:solidFill>
              <a:srgbClr val="1D1D1A">
                <a:lumMod val="10000"/>
                <a:lumOff val="90000"/>
              </a:srgbClr>
            </a:solidFill>
          </p:spPr>
          <p:txBody>
            <a:bodyPr wrap="square" lIns="0" tIns="108000" rIns="0" bIns="0" rtlCol="0" anchor="t"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5G Core</a:t>
              </a:r>
              <a:endPara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14" name="圆柱形 113">
            <a:extLst>
              <a:ext uri="{FF2B5EF4-FFF2-40B4-BE49-F238E27FC236}">
                <a16:creationId xmlns="" xmlns:a16="http://schemas.microsoft.com/office/drawing/2014/main" id="{07B9401C-7A70-4CF2-875B-3A5788EDFD76}"/>
              </a:ext>
            </a:extLst>
          </p:cNvPr>
          <p:cNvSpPr/>
          <p:nvPr/>
        </p:nvSpPr>
        <p:spPr>
          <a:xfrm rot="5400000">
            <a:off x="3942022" y="4160425"/>
            <a:ext cx="177340" cy="3888000"/>
          </a:xfrm>
          <a:prstGeom prst="can">
            <a:avLst/>
          </a:prstGeom>
          <a:solidFill>
            <a:srgbClr val="30B5C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="" xmlns:a16="http://schemas.microsoft.com/office/drawing/2014/main" id="{02C08E99-69DF-4713-897A-EB222620D6D5}"/>
              </a:ext>
            </a:extLst>
          </p:cNvPr>
          <p:cNvSpPr txBox="1"/>
          <p:nvPr/>
        </p:nvSpPr>
        <p:spPr>
          <a:xfrm>
            <a:off x="7781578" y="5573080"/>
            <a:ext cx="1440000" cy="398793"/>
          </a:xfrm>
          <a:prstGeom prst="rect">
            <a:avLst/>
          </a:prstGeom>
          <a:solidFill>
            <a:srgbClr val="DDDDDD"/>
          </a:solidFill>
        </p:spPr>
        <p:txBody>
          <a:bodyPr wrap="square" lIns="0" tIns="36000" rIns="0" bIns="3600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UDM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="" xmlns:a16="http://schemas.microsoft.com/office/drawing/2014/main" id="{894C3D85-9B9E-469E-BF05-CD4D63456F20}"/>
              </a:ext>
            </a:extLst>
          </p:cNvPr>
          <p:cNvSpPr txBox="1"/>
          <p:nvPr/>
        </p:nvSpPr>
        <p:spPr>
          <a:xfrm>
            <a:off x="9365783" y="5573080"/>
            <a:ext cx="1440000" cy="398793"/>
          </a:xfrm>
          <a:prstGeom prst="rect">
            <a:avLst/>
          </a:prstGeom>
          <a:solidFill>
            <a:srgbClr val="DDDDDD"/>
          </a:solidFill>
        </p:spPr>
        <p:txBody>
          <a:bodyPr wrap="square" lIns="0" tIns="36000" rIns="0" bIns="3600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PCF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="" xmlns:a16="http://schemas.microsoft.com/office/drawing/2014/main" id="{6E560BDA-9861-4544-80F9-EE1A3C2CD34A}"/>
              </a:ext>
            </a:extLst>
          </p:cNvPr>
          <p:cNvSpPr/>
          <p:nvPr/>
        </p:nvSpPr>
        <p:spPr>
          <a:xfrm>
            <a:off x="8031562" y="4010566"/>
            <a:ext cx="3162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en-US" altLang="zh-CN" sz="12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Core Network User Subscription</a:t>
            </a:r>
            <a:endParaRPr lang="en-US" altLang="zh-CN" sz="1200" b="1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UDM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 NFSNSSAI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 SNSSAI</a:t>
            </a:r>
            <a:r>
              <a:rPr lang="zh-CN" altLang="en-US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 SMDATA</a:t>
            </a:r>
          </a:p>
        </p:txBody>
      </p:sp>
      <p:sp>
        <p:nvSpPr>
          <p:cNvPr id="4" name="矩形 3"/>
          <p:cNvSpPr/>
          <p:nvPr/>
        </p:nvSpPr>
        <p:spPr>
          <a:xfrm>
            <a:off x="2871251" y="5032494"/>
            <a:ext cx="25074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Management Domain</a:t>
            </a:r>
            <a:endParaRPr kumimoji="1" lang="zh-CN" altLang="en-US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="" xmlns:a16="http://schemas.microsoft.com/office/drawing/2014/main" id="{9E97B55F-C01C-4B3F-865B-B214E32003E0}"/>
              </a:ext>
            </a:extLst>
          </p:cNvPr>
          <p:cNvSpPr txBox="1">
            <a:spLocks/>
          </p:cNvSpPr>
          <p:nvPr/>
        </p:nvSpPr>
        <p:spPr>
          <a:xfrm>
            <a:off x="234418" y="423150"/>
            <a:ext cx="7283982" cy="83669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Slice Provisioning Workflow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About Network Slicing, 6 Steps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="" xmlns:a16="http://schemas.microsoft.com/office/drawing/2014/main" id="{651D6422-169F-44C8-BD8D-6341CB7D36BA}"/>
              </a:ext>
            </a:extLst>
          </p:cNvPr>
          <p:cNvSpPr txBox="1"/>
          <p:nvPr/>
        </p:nvSpPr>
        <p:spPr>
          <a:xfrm>
            <a:off x="1673893" y="4601726"/>
            <a:ext cx="5706048" cy="1022479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kumimoji="1"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Management Domain</a:t>
            </a:r>
            <a:endParaRPr kumimoji="1" lang="zh-CN" altLang="en-US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316AE72C-E9D3-4A40-9ED7-03CB76668AA1}"/>
              </a:ext>
            </a:extLst>
          </p:cNvPr>
          <p:cNvSpPr txBox="1"/>
          <p:nvPr/>
        </p:nvSpPr>
        <p:spPr>
          <a:xfrm>
            <a:off x="1624544" y="1976024"/>
            <a:ext cx="10103875" cy="46800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End User </a:t>
            </a:r>
            <a:r>
              <a:rPr kumimoji="0" lang="zh-CN" altLang="en-US" sz="1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Live Streaming</a:t>
            </a:r>
            <a:r>
              <a:rPr kumimoji="0" lang="zh-CN" altLang="en-US" sz="1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4C09ABA3-38AD-4689-AB75-B0819A09951A}"/>
              </a:ext>
            </a:extLst>
          </p:cNvPr>
          <p:cNvSpPr txBox="1"/>
          <p:nvPr/>
        </p:nvSpPr>
        <p:spPr>
          <a:xfrm>
            <a:off x="1665185" y="2943218"/>
            <a:ext cx="10103876" cy="1119479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="" xmlns:a16="http://schemas.microsoft.com/office/drawing/2014/main" id="{7F78C86E-E2FB-4405-810C-CAB3288C4968}"/>
              </a:ext>
            </a:extLst>
          </p:cNvPr>
          <p:cNvSpPr txBox="1"/>
          <p:nvPr/>
        </p:nvSpPr>
        <p:spPr>
          <a:xfrm>
            <a:off x="1980627" y="3235612"/>
            <a:ext cx="1942012" cy="53217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Evaluate Slice Service Request</a:t>
            </a:r>
            <a:endParaRPr kumimoji="1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="" xmlns:a16="http://schemas.microsoft.com/office/drawing/2014/main" id="{F092AB2A-790C-4CDF-BFE8-A0149752796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2951633" y="2015067"/>
            <a:ext cx="0" cy="1220545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C3AD344C-C9B2-4D34-910F-7E7BBA8EA89F}"/>
              </a:ext>
            </a:extLst>
          </p:cNvPr>
          <p:cNvSpPr/>
          <p:nvPr/>
        </p:nvSpPr>
        <p:spPr>
          <a:xfrm>
            <a:off x="3059957" y="2412336"/>
            <a:ext cx="2981855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①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Get an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Slice Service Assurance</a:t>
            </a:r>
            <a:r>
              <a:rPr lang="zh-CN" altLang="en-US" sz="11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1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 Hours - 2Weeks in Advance)</a:t>
            </a:r>
            <a:endParaRPr kumimoji="1" lang="zh-CN" altLang="en-US" sz="1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E3AECC7C-D245-4CD3-990A-1EEC16D8F6BC}"/>
              </a:ext>
            </a:extLst>
          </p:cNvPr>
          <p:cNvSpPr txBox="1"/>
          <p:nvPr/>
        </p:nvSpPr>
        <p:spPr>
          <a:xfrm>
            <a:off x="1997075" y="4972666"/>
            <a:ext cx="4988001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Evaluate the RAN SLA Assurance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10754298-F574-40B2-AD09-4845E9539C8B}"/>
              </a:ext>
            </a:extLst>
          </p:cNvPr>
          <p:cNvSpPr txBox="1"/>
          <p:nvPr/>
        </p:nvSpPr>
        <p:spPr>
          <a:xfrm>
            <a:off x="1673893" y="6092205"/>
            <a:ext cx="5706048" cy="50942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gNodeB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389C714D-6FE4-4F9A-9A68-677CD7C2A668}"/>
              </a:ext>
            </a:extLst>
          </p:cNvPr>
          <p:cNvSpPr/>
          <p:nvPr/>
        </p:nvSpPr>
        <p:spPr>
          <a:xfrm>
            <a:off x="4569256" y="4163864"/>
            <a:ext cx="278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②</a:t>
            </a:r>
            <a:r>
              <a:rPr lang="en-US" altLang="zh-CN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Pre-evaluation</a:t>
            </a:r>
            <a:endParaRPr kumimoji="1" lang="zh-CN" altLang="en-US" sz="1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="" xmlns:a16="http://schemas.microsoft.com/office/drawing/2014/main" id="{112EF3E6-0E77-465F-83CF-567BB9BDC115}"/>
              </a:ext>
            </a:extLst>
          </p:cNvPr>
          <p:cNvCxnSpPr>
            <a:cxnSpLocks/>
            <a:stCxn id="35" idx="2"/>
            <a:endCxn id="42" idx="0"/>
          </p:cNvCxnSpPr>
          <p:nvPr/>
        </p:nvCxnSpPr>
        <p:spPr>
          <a:xfrm>
            <a:off x="4526917" y="5624205"/>
            <a:ext cx="0" cy="46800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菱形 44">
            <a:extLst>
              <a:ext uri="{FF2B5EF4-FFF2-40B4-BE49-F238E27FC236}">
                <a16:creationId xmlns="" xmlns:a16="http://schemas.microsoft.com/office/drawing/2014/main" id="{1DB915DA-73B4-42C3-BC31-E8685820BB64}"/>
              </a:ext>
            </a:extLst>
          </p:cNvPr>
          <p:cNvSpPr/>
          <p:nvPr/>
        </p:nvSpPr>
        <p:spPr>
          <a:xfrm>
            <a:off x="5440906" y="3240028"/>
            <a:ext cx="1920543" cy="540000"/>
          </a:xfrm>
          <a:prstGeom prst="diamond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If can be assured</a:t>
            </a:r>
            <a:endParaRPr kumimoji="0" lang="zh-CN" altLang="en-US" sz="1100" b="0" i="0" u="none" strike="noStrike" kern="0" cap="none" spc="-10" normalizeH="0" baseline="0" noProof="0" dirty="0" smtClean="0">
              <a:ln>
                <a:noFill/>
              </a:ln>
              <a:solidFill>
                <a:srgbClr val="00051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="" xmlns:a16="http://schemas.microsoft.com/office/drawing/2014/main" id="{695D226B-6C25-4BC6-B324-7A97B60B47B1}"/>
              </a:ext>
            </a:extLst>
          </p:cNvPr>
          <p:cNvCxnSpPr>
            <a:cxnSpLocks/>
            <a:stCxn id="38" idx="3"/>
            <a:endCxn id="45" idx="1"/>
          </p:cNvCxnSpPr>
          <p:nvPr/>
        </p:nvCxnSpPr>
        <p:spPr>
          <a:xfrm>
            <a:off x="3922639" y="3501697"/>
            <a:ext cx="1518267" cy="8331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直接箭头连接符 46">
            <a:extLst>
              <a:ext uri="{FF2B5EF4-FFF2-40B4-BE49-F238E27FC236}">
                <a16:creationId xmlns="" xmlns:a16="http://schemas.microsoft.com/office/drawing/2014/main" id="{D1BD2A3A-CD87-4328-8699-4F4EB4114BB2}"/>
              </a:ext>
            </a:extLst>
          </p:cNvPr>
          <p:cNvCxnSpPr>
            <a:cxnSpLocks/>
          </p:cNvCxnSpPr>
          <p:nvPr/>
        </p:nvCxnSpPr>
        <p:spPr>
          <a:xfrm flipV="1">
            <a:off x="6387253" y="2519680"/>
            <a:ext cx="0" cy="704428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3706898C-67C4-4D04-9827-EBF576C4961C}"/>
              </a:ext>
            </a:extLst>
          </p:cNvPr>
          <p:cNvSpPr/>
          <p:nvPr/>
        </p:nvSpPr>
        <p:spPr>
          <a:xfrm>
            <a:off x="6427162" y="2914835"/>
            <a:ext cx="317110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en-US" altLang="zh-CN" sz="1200" spc="-1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endParaRPr kumimoji="1"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="" xmlns:a16="http://schemas.microsoft.com/office/drawing/2014/main" id="{78059C56-D1C3-442D-834F-F4CB8964BC19}"/>
              </a:ext>
            </a:extLst>
          </p:cNvPr>
          <p:cNvSpPr/>
          <p:nvPr/>
        </p:nvSpPr>
        <p:spPr>
          <a:xfrm>
            <a:off x="8903110" y="2456625"/>
            <a:ext cx="25302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⑤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Notify User</a:t>
            </a:r>
            <a:r>
              <a:rPr lang="zh-CN" altLang="en-US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Order Success</a:t>
            </a:r>
            <a:endParaRPr kumimoji="1" lang="zh-CN" altLang="en-US" sz="1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="" xmlns:a16="http://schemas.microsoft.com/office/drawing/2014/main" id="{0CE16EAF-E08F-4EFA-839D-2C5AC52682D4}"/>
              </a:ext>
            </a:extLst>
          </p:cNvPr>
          <p:cNvSpPr/>
          <p:nvPr/>
        </p:nvSpPr>
        <p:spPr>
          <a:xfrm>
            <a:off x="7354656" y="3501697"/>
            <a:ext cx="317110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en-US" altLang="zh-CN" sz="1200" spc="-1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Y</a:t>
            </a:r>
            <a:endParaRPr kumimoji="1"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="" xmlns:a16="http://schemas.microsoft.com/office/drawing/2014/main" id="{7212AF59-A5BE-4115-BAAD-713EDBA30D36}"/>
              </a:ext>
            </a:extLst>
          </p:cNvPr>
          <p:cNvSpPr/>
          <p:nvPr/>
        </p:nvSpPr>
        <p:spPr>
          <a:xfrm>
            <a:off x="6670994" y="2406096"/>
            <a:ext cx="2229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Notify User, or Cancel Reservation</a:t>
            </a:r>
            <a:endParaRPr kumimoji="1" lang="zh-CN" altLang="en-US" sz="1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="" xmlns:a16="http://schemas.microsoft.com/office/drawing/2014/main" id="{042B46B2-62A1-49DD-BCBA-7E963AE3BD81}"/>
              </a:ext>
            </a:extLst>
          </p:cNvPr>
          <p:cNvCxnSpPr>
            <a:cxnSpLocks/>
            <a:stCxn id="45" idx="3"/>
            <a:endCxn id="56" idx="1"/>
          </p:cNvCxnSpPr>
          <p:nvPr/>
        </p:nvCxnSpPr>
        <p:spPr>
          <a:xfrm flipV="1">
            <a:off x="7361449" y="3501697"/>
            <a:ext cx="1890139" cy="8331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3" name="连接符: 肘形 55">
            <a:extLst>
              <a:ext uri="{FF2B5EF4-FFF2-40B4-BE49-F238E27FC236}">
                <a16:creationId xmlns="" xmlns:a16="http://schemas.microsoft.com/office/drawing/2014/main" id="{37D560F1-9522-4B83-9ACC-B5125AF458CB}"/>
              </a:ext>
            </a:extLst>
          </p:cNvPr>
          <p:cNvCxnSpPr>
            <a:cxnSpLocks/>
            <a:stCxn id="56" idx="2"/>
            <a:endCxn id="55" idx="3"/>
          </p:cNvCxnSpPr>
          <p:nvPr/>
        </p:nvCxnSpPr>
        <p:spPr>
          <a:xfrm rot="16200000" flipH="1">
            <a:off x="9455306" y="4284511"/>
            <a:ext cx="1266258" cy="23280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="" xmlns:a16="http://schemas.microsoft.com/office/drawing/2014/main" id="{E49B7966-CD3D-4544-AC43-20844BF4112C}"/>
              </a:ext>
            </a:extLst>
          </p:cNvPr>
          <p:cNvSpPr/>
          <p:nvPr/>
        </p:nvSpPr>
        <p:spPr>
          <a:xfrm>
            <a:off x="8549302" y="4404773"/>
            <a:ext cx="1621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④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Subscribe, Bind User and Slice ID</a:t>
            </a:r>
            <a:endParaRPr kumimoji="1" lang="zh-CN" altLang="en-US" sz="1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5" name="云形 54">
            <a:extLst>
              <a:ext uri="{FF2B5EF4-FFF2-40B4-BE49-F238E27FC236}">
                <a16:creationId xmlns="" xmlns:a16="http://schemas.microsoft.com/office/drawing/2014/main" id="{BC474ABA-ACD8-4387-B46E-595360753090}"/>
              </a:ext>
            </a:extLst>
          </p:cNvPr>
          <p:cNvSpPr/>
          <p:nvPr/>
        </p:nvSpPr>
        <p:spPr>
          <a:xfrm>
            <a:off x="8935933" y="4975579"/>
            <a:ext cx="2537804" cy="1022479"/>
          </a:xfrm>
          <a:prstGeom prst="cloud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5G Core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="" xmlns:a16="http://schemas.microsoft.com/office/drawing/2014/main" id="{106A92C6-3E27-4D41-9B79-11C2656F438B}"/>
              </a:ext>
            </a:extLst>
          </p:cNvPr>
          <p:cNvSpPr txBox="1"/>
          <p:nvPr/>
        </p:nvSpPr>
        <p:spPr>
          <a:xfrm>
            <a:off x="9251588" y="3235612"/>
            <a:ext cx="1440894" cy="53217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User Subscription</a:t>
            </a:r>
            <a:endParaRPr kumimoji="1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7" name="连接符: 肘形 72">
            <a:extLst>
              <a:ext uri="{FF2B5EF4-FFF2-40B4-BE49-F238E27FC236}">
                <a16:creationId xmlns="" xmlns:a16="http://schemas.microsoft.com/office/drawing/2014/main" id="{46879676-F3E2-4CF3-8655-9371AD1B1CE5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10692482" y="2008699"/>
            <a:ext cx="548455" cy="1492998"/>
          </a:xfrm>
          <a:prstGeom prst="bentConnector2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矩形 57">
            <a:extLst>
              <a:ext uri="{FF2B5EF4-FFF2-40B4-BE49-F238E27FC236}">
                <a16:creationId xmlns="" xmlns:a16="http://schemas.microsoft.com/office/drawing/2014/main" id="{D5A41332-C01A-4EE3-B39A-6CD4B972B800}"/>
              </a:ext>
            </a:extLst>
          </p:cNvPr>
          <p:cNvSpPr/>
          <p:nvPr/>
        </p:nvSpPr>
        <p:spPr>
          <a:xfrm>
            <a:off x="72128" y="3284546"/>
            <a:ext cx="16017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>
              <a:defRPr/>
            </a:pPr>
            <a:r>
              <a:rPr kumimoji="1" lang="en-US" altLang="zh-CN" sz="1400" b="1" spc="-10" dirty="0" err="1" smtClean="0">
                <a:solidFill>
                  <a:srgbClr val="0005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NaaS+BSS+OSS</a:t>
            </a:r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="" xmlns:a16="http://schemas.microsoft.com/office/drawing/2014/main" id="{9A6CBDD7-F994-4FC7-89A9-8617A47C23A2}"/>
              </a:ext>
            </a:extLst>
          </p:cNvPr>
          <p:cNvSpPr/>
          <p:nvPr/>
        </p:nvSpPr>
        <p:spPr>
          <a:xfrm>
            <a:off x="268340" y="5059476"/>
            <a:ext cx="1104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>
              <a:defRPr/>
            </a:pPr>
            <a:r>
              <a:rPr lang="en-US" altLang="zh-CN" sz="1400" b="1" spc="-10" dirty="0" smtClean="0">
                <a:solidFill>
                  <a:srgbClr val="0005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Network Resource</a:t>
            </a:r>
            <a:endParaRPr lang="en-US" altLang="zh-CN" sz="1400" b="1" spc="-10" dirty="0">
              <a:solidFill>
                <a:srgbClr val="0005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="" xmlns:a16="http://schemas.microsoft.com/office/drawing/2014/main" id="{14EDDACC-4331-4444-A988-1B872FB9C5D0}"/>
              </a:ext>
            </a:extLst>
          </p:cNvPr>
          <p:cNvSpPr/>
          <p:nvPr/>
        </p:nvSpPr>
        <p:spPr>
          <a:xfrm>
            <a:off x="253717" y="2502237"/>
            <a:ext cx="11462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 API</a:t>
            </a:r>
            <a:endParaRPr lang="zh-CN" altLang="en-US" sz="1400" dirty="0">
              <a:solidFill>
                <a:srgbClr val="0070C0"/>
              </a:solidFill>
              <a:ea typeface="等线" panose="02010600030101010101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="" xmlns:a16="http://schemas.microsoft.com/office/drawing/2014/main" id="{515DCB5A-92A3-42EA-A824-ECF6D6CA7ABB}"/>
              </a:ext>
            </a:extLst>
          </p:cNvPr>
          <p:cNvSpPr/>
          <p:nvPr/>
        </p:nvSpPr>
        <p:spPr>
          <a:xfrm>
            <a:off x="226624" y="4219137"/>
            <a:ext cx="12645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API</a:t>
            </a:r>
            <a:endParaRPr lang="zh-CN" altLang="en-US" sz="1400" dirty="0">
              <a:solidFill>
                <a:srgbClr val="0070C0"/>
              </a:solidFill>
              <a:ea typeface="等线" panose="02010600030101010101" pitchFamily="2" charset="-122"/>
            </a:endParaRPr>
          </a:p>
        </p:txBody>
      </p:sp>
      <p:cxnSp>
        <p:nvCxnSpPr>
          <p:cNvPr id="62" name="连接符: 肘形 10">
            <a:extLst>
              <a:ext uri="{FF2B5EF4-FFF2-40B4-BE49-F238E27FC236}">
                <a16:creationId xmlns="" xmlns:a16="http://schemas.microsoft.com/office/drawing/2014/main" id="{68286F0D-2D65-482A-A1DC-05AFDB8E48BF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 rot="16200000" flipH="1">
            <a:off x="3118912" y="3600502"/>
            <a:ext cx="1204884" cy="1539443"/>
          </a:xfrm>
          <a:prstGeom prst="bentConnector3">
            <a:avLst>
              <a:gd name="adj1" fmla="val 45306"/>
            </a:avLst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1157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5">
            <a:extLst>
              <a:ext uri="{FF2B5EF4-FFF2-40B4-BE49-F238E27FC236}">
                <a16:creationId xmlns="" xmlns:a16="http://schemas.microsoft.com/office/drawing/2014/main" id="{9E97B55F-C01C-4B3F-865B-B214E320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59" y="315000"/>
            <a:ext cx="7725522" cy="829647"/>
          </a:xfrm>
        </p:spPr>
        <p:txBody>
          <a:bodyPr>
            <a:normAutofit fontScale="90000"/>
          </a:bodyPr>
          <a:lstStyle/>
          <a:p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Reservation API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Service API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With Network API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="" xmlns:a16="http://schemas.microsoft.com/office/drawing/2014/main" id="{D518004C-63A3-4F84-A14D-89C7F5E6D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616194"/>
              </p:ext>
            </p:extLst>
          </p:nvPr>
        </p:nvGraphicFramePr>
        <p:xfrm>
          <a:off x="570894" y="2190516"/>
          <a:ext cx="4988270" cy="4347790"/>
        </p:xfrm>
        <a:graphic>
          <a:graphicData uri="http://schemas.openxmlformats.org/drawingml/2006/table">
            <a:tbl>
              <a:tblPr firstRow="1" bandRow="1"/>
              <a:tblGrid>
                <a:gridCol w="1252294">
                  <a:extLst>
                    <a:ext uri="{9D8B030D-6E8A-4147-A177-3AD203B41FA5}">
                      <a16:colId xmlns="" xmlns:a16="http://schemas.microsoft.com/office/drawing/2014/main" val="4128324124"/>
                    </a:ext>
                  </a:extLst>
                </a:gridCol>
                <a:gridCol w="3735976">
                  <a:extLst>
                    <a:ext uri="{9D8B030D-6E8A-4147-A177-3AD203B41FA5}">
                      <a16:colId xmlns="" xmlns:a16="http://schemas.microsoft.com/office/drawing/2014/main" val="2405818989"/>
                    </a:ext>
                  </a:extLst>
                </a:gridCol>
              </a:tblGrid>
              <a:tr h="5329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en-US" altLang="zh-CN" sz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Name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Network</a:t>
                      </a:r>
                      <a:r>
                        <a:rPr lang="en-US" altLang="zh-CN" sz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Slicing Pre-Evaluation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88846831"/>
                  </a:ext>
                </a:extLst>
              </a:tr>
              <a:tr h="4586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Function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Make SLA</a:t>
                      </a:r>
                      <a:r>
                        <a:rPr lang="en-US" altLang="zh-CN" sz="12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Reservation 2H – 2 Weeks in Advance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68258721"/>
                  </a:ext>
                </a:extLst>
              </a:tr>
              <a:tr h="482351">
                <a:tc row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Assurance Duration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</a:t>
                      </a:r>
                      <a:r>
                        <a:rPr lang="en-US" altLang="zh-CN" sz="12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From – To 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81520510"/>
                  </a:ext>
                </a:extLst>
              </a:tr>
              <a:tr h="907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Assurance Location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200" b="0" kern="120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Enum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Point - </a:t>
                      </a:r>
                      <a:r>
                        <a:rPr lang="en-US" altLang="zh-CN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Longitude and latitude</a:t>
                      </a:r>
                      <a:r>
                        <a:rPr lang="en-US" altLang="zh-CN" sz="1200" b="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; Line – Array of Longitude and latitude ; Plane – Central Point and Radius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12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2778805"/>
                  </a:ext>
                </a:extLst>
              </a:tr>
              <a:tr h="4823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Assurance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Terminal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2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Terminals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20477722"/>
                  </a:ext>
                </a:extLst>
              </a:tr>
              <a:tr h="48850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SLA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Target</a:t>
                      </a:r>
                      <a:r>
                        <a:rPr lang="zh-CN" altLang="en-US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2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Upstream</a:t>
                      </a:r>
                      <a:r>
                        <a:rPr lang="en-US" altLang="zh-CN" sz="1200" b="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Downstream, Latency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97378240"/>
                  </a:ext>
                </a:extLst>
              </a:tr>
              <a:tr h="8918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Success /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Fail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Y/N</a:t>
                      </a: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47897131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1842ADC4-B3E8-46CF-B7E5-6530B83EDC47}"/>
              </a:ext>
            </a:extLst>
          </p:cNvPr>
          <p:cNvSpPr/>
          <p:nvPr/>
        </p:nvSpPr>
        <p:spPr>
          <a:xfrm>
            <a:off x="2148635" y="1745282"/>
            <a:ext cx="1493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 API</a:t>
            </a:r>
            <a:endParaRPr lang="zh-CN" altLang="en-US" b="1" dirty="0">
              <a:solidFill>
                <a:srgbClr val="1D1D1A"/>
              </a:solidFill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4F40629D-2829-4694-ACD2-1B30D5BD63E3}"/>
              </a:ext>
            </a:extLst>
          </p:cNvPr>
          <p:cNvSpPr/>
          <p:nvPr/>
        </p:nvSpPr>
        <p:spPr>
          <a:xfrm>
            <a:off x="8151545" y="1745283"/>
            <a:ext cx="1666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API</a:t>
            </a:r>
            <a:endParaRPr lang="zh-CN" altLang="en-US" b="1" dirty="0">
              <a:solidFill>
                <a:srgbClr val="1D1D1A"/>
              </a:solidFill>
              <a:ea typeface="等线" panose="02010600030101010101" pitchFamily="2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BEE7595D-21BE-4841-9AC8-76C35C82E71C}"/>
              </a:ext>
            </a:extLst>
          </p:cNvPr>
          <p:cNvCxnSpPr/>
          <p:nvPr/>
        </p:nvCxnSpPr>
        <p:spPr>
          <a:xfrm>
            <a:off x="5784427" y="1882987"/>
            <a:ext cx="7742" cy="4711574"/>
          </a:xfrm>
          <a:prstGeom prst="line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dash"/>
            <a:miter lim="800000"/>
          </a:ln>
          <a:effectLst/>
        </p:spPr>
      </p:cxnSp>
      <p:graphicFrame>
        <p:nvGraphicFramePr>
          <p:cNvPr id="19" name="表格 18">
            <a:extLst>
              <a:ext uri="{FF2B5EF4-FFF2-40B4-BE49-F238E27FC236}">
                <a16:creationId xmlns="" xmlns:a16="http://schemas.microsoft.com/office/drawing/2014/main" id="{0F5A10C4-284E-42C7-817E-14D551192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760110"/>
              </p:ext>
            </p:extLst>
          </p:nvPr>
        </p:nvGraphicFramePr>
        <p:xfrm>
          <a:off x="6018577" y="2160563"/>
          <a:ext cx="5821209" cy="4422879"/>
        </p:xfrm>
        <a:graphic>
          <a:graphicData uri="http://schemas.openxmlformats.org/drawingml/2006/table">
            <a:tbl>
              <a:tblPr firstRow="1" bandRow="1"/>
              <a:tblGrid>
                <a:gridCol w="1461401">
                  <a:extLst>
                    <a:ext uri="{9D8B030D-6E8A-4147-A177-3AD203B41FA5}">
                      <a16:colId xmlns="" xmlns:a16="http://schemas.microsoft.com/office/drawing/2014/main" val="4128324124"/>
                    </a:ext>
                  </a:extLst>
                </a:gridCol>
                <a:gridCol w="4359808">
                  <a:extLst>
                    <a:ext uri="{9D8B030D-6E8A-4147-A177-3AD203B41FA5}">
                      <a16:colId xmlns="" xmlns:a16="http://schemas.microsoft.com/office/drawing/2014/main" val="2405818989"/>
                    </a:ext>
                  </a:extLst>
                </a:gridCol>
              </a:tblGrid>
              <a:tr h="3692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en-US" altLang="zh-CN" sz="16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Name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7323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Slice </a:t>
                      </a: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Pre-Evaluation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API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88846831"/>
                  </a:ext>
                </a:extLst>
              </a:tr>
              <a:tr h="3675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Function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Evaluate Whether</a:t>
                      </a:r>
                      <a:r>
                        <a:rPr lang="en-US" altLang="zh-CN" sz="14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SLA can </a:t>
                      </a:r>
                      <a:r>
                        <a:rPr lang="en-US" altLang="zh-CN" sz="1400" kern="1200" baseline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be Assured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68258721"/>
                  </a:ext>
                </a:extLst>
              </a:tr>
              <a:tr h="321822">
                <a:tc row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Assurance Duration</a:t>
                      </a:r>
                      <a:r>
                        <a:rPr lang="zh-CN" altLang="en-US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Start</a:t>
                      </a:r>
                      <a:r>
                        <a:rPr lang="en-US" altLang="zh-CN" sz="14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From – To 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81520510"/>
                  </a:ext>
                </a:extLst>
              </a:tr>
              <a:tr h="10806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Assurance Location</a:t>
                      </a:r>
                      <a:r>
                        <a:rPr lang="zh-CN" altLang="en-US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400" b="0" kern="120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Enum</a:t>
                      </a:r>
                      <a:r>
                        <a:rPr lang="zh-CN" altLang="en-US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Point - </a:t>
                      </a:r>
                      <a:r>
                        <a:rPr lang="en-US" altLang="zh-CN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Longitude and latitude</a:t>
                      </a:r>
                      <a:r>
                        <a:rPr lang="en-US" altLang="zh-CN" sz="1400" b="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; Line – Array of Longitude and latitude ; Plane – Central Point and Radius</a:t>
                      </a:r>
                      <a:r>
                        <a:rPr lang="zh-CN" altLang="en-US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2778805"/>
                  </a:ext>
                </a:extLst>
              </a:tr>
              <a:tr h="3218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Assurance</a:t>
                      </a:r>
                      <a:r>
                        <a:rPr lang="en-US" altLang="zh-CN" sz="14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Terminal</a:t>
                      </a:r>
                      <a:r>
                        <a:rPr lang="zh-CN" altLang="en-US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4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Terminals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20477722"/>
                  </a:ext>
                </a:extLst>
              </a:tr>
              <a:tr h="472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SLA</a:t>
                      </a:r>
                      <a:r>
                        <a:rPr lang="en-US" altLang="zh-CN" sz="14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Target</a:t>
                      </a:r>
                      <a:r>
                        <a:rPr lang="zh-CN" altLang="en-US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4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Upstream</a:t>
                      </a:r>
                      <a:r>
                        <a:rPr lang="en-US" altLang="zh-CN" sz="1400" b="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Downstream, Latency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97378240"/>
                  </a:ext>
                </a:extLst>
              </a:tr>
              <a:tr h="680439">
                <a:tc vMerge="1"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Restricted</a:t>
                      </a:r>
                      <a:r>
                        <a:rPr lang="en-US" altLang="zh-CN" sz="14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Conditions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eg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Considering</a:t>
                      </a:r>
                      <a:r>
                        <a:rPr lang="en-US" altLang="zh-CN" sz="14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MBB user, set the reserved upper limit for slice RB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37877505"/>
                  </a:ext>
                </a:extLst>
              </a:tr>
              <a:tr h="6804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Output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Assured or Fail,</a:t>
                      </a:r>
                      <a:r>
                        <a:rPr lang="en-US" altLang="zh-CN" sz="1400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How much can be assured</a:t>
                      </a:r>
                      <a:endParaRPr lang="zh-CN" altLang="en-US" sz="1400" kern="1200" dirty="0" smtClean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Cell RB Resources</a:t>
                      </a:r>
                      <a:r>
                        <a:rPr lang="zh-CN" altLang="en-US" sz="1400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400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r>
                        <a:rPr lang="zh-CN" altLang="en-US" sz="1400" kern="1200" dirty="0" smtClean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endParaRPr lang="en-US" altLang="zh-CN" sz="1400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47897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73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="" xmlns:a16="http://schemas.microsoft.com/office/drawing/2014/main" id="{9E97B55F-C01C-4B3F-865B-B214E320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64" y="328547"/>
            <a:ext cx="7149789" cy="829647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Enable and Delete Slice Work Flow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Before and After the Assurance, CSMF/NSMF will Enable/Delete the Slice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="" xmlns:a16="http://schemas.microsoft.com/office/drawing/2014/main" id="{651D6422-169F-44C8-BD8D-6341CB7D36BA}"/>
              </a:ext>
            </a:extLst>
          </p:cNvPr>
          <p:cNvSpPr txBox="1"/>
          <p:nvPr/>
        </p:nvSpPr>
        <p:spPr>
          <a:xfrm>
            <a:off x="1714533" y="4278013"/>
            <a:ext cx="5706048" cy="1022479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Management Domain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="" xmlns:a16="http://schemas.microsoft.com/office/drawing/2014/main" id="{316AE72C-E9D3-4A40-9ED7-03CB76668AA1}"/>
              </a:ext>
            </a:extLst>
          </p:cNvPr>
          <p:cNvSpPr txBox="1"/>
          <p:nvPr/>
        </p:nvSpPr>
        <p:spPr>
          <a:xfrm>
            <a:off x="1685504" y="1869056"/>
            <a:ext cx="10103875" cy="468000"/>
          </a:xfrm>
          <a:prstGeom prst="rect">
            <a:avLst/>
          </a:prstGeom>
          <a:solidFill>
            <a:srgbClr val="DDDDDD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End User </a:t>
            </a:r>
            <a:r>
              <a:rPr kumimoji="0" lang="zh-CN" altLang="en-US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Live Streaming</a:t>
            </a:r>
            <a:r>
              <a:rPr kumimoji="0" lang="zh-CN" altLang="en-US" sz="1200" b="0" i="0" u="none" strike="noStrike" kern="0" cap="none" spc="-10" normalizeH="0" baseline="0" noProof="0" dirty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="" xmlns:a16="http://schemas.microsoft.com/office/drawing/2014/main" id="{4C09ABA3-38AD-4689-AB75-B0819A09951A}"/>
              </a:ext>
            </a:extLst>
          </p:cNvPr>
          <p:cNvSpPr txBox="1"/>
          <p:nvPr/>
        </p:nvSpPr>
        <p:spPr>
          <a:xfrm>
            <a:off x="1705825" y="2993812"/>
            <a:ext cx="10103876" cy="85354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="" xmlns:a16="http://schemas.microsoft.com/office/drawing/2014/main" id="{7F78C86E-E2FB-4405-810C-CAB3288C4968}"/>
              </a:ext>
            </a:extLst>
          </p:cNvPr>
          <p:cNvSpPr txBox="1"/>
          <p:nvPr/>
        </p:nvSpPr>
        <p:spPr>
          <a:xfrm>
            <a:off x="2044487" y="3142192"/>
            <a:ext cx="2239351" cy="53217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Enable the Slice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="" xmlns:a16="http://schemas.microsoft.com/office/drawing/2014/main" id="{C3AD344C-C9B2-4D34-910F-7E7BBA8EA89F}"/>
              </a:ext>
            </a:extLst>
          </p:cNvPr>
          <p:cNvSpPr/>
          <p:nvPr/>
        </p:nvSpPr>
        <p:spPr>
          <a:xfrm>
            <a:off x="3376359" y="2278681"/>
            <a:ext cx="72577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en-US" altLang="zh-CN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After the assurance starts, the UE sends a registration request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with the </a:t>
            </a:r>
            <a:r>
              <a:rPr lang="en-US" altLang="zh-CN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pre-allocated NSSAI through signaling. After the registration is successful, slice-level SLA assurance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starts. </a:t>
            </a:r>
            <a:endParaRPr lang="en-US" altLang="zh-CN" sz="1200" spc="-1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="" xmlns:a16="http://schemas.microsoft.com/office/drawing/2014/main" id="{E3AECC7C-D245-4CD3-990A-1EEC16D8F6BC}"/>
              </a:ext>
            </a:extLst>
          </p:cNvPr>
          <p:cNvSpPr txBox="1"/>
          <p:nvPr/>
        </p:nvSpPr>
        <p:spPr>
          <a:xfrm>
            <a:off x="2039242" y="4648952"/>
            <a:ext cx="2239351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Resource Creation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="" xmlns:a16="http://schemas.microsoft.com/office/drawing/2014/main" id="{10754298-F574-40B2-AD09-4845E9539C8B}"/>
              </a:ext>
            </a:extLst>
          </p:cNvPr>
          <p:cNvSpPr txBox="1"/>
          <p:nvPr/>
        </p:nvSpPr>
        <p:spPr>
          <a:xfrm>
            <a:off x="1694213" y="5684535"/>
            <a:ext cx="5706048" cy="50942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gNodeB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="" xmlns:a16="http://schemas.microsoft.com/office/drawing/2014/main" id="{820312FF-41F1-4C9F-B7AC-11A9707E922A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flipH="1">
            <a:off x="3158918" y="3674362"/>
            <a:ext cx="5245" cy="97459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="" xmlns:a16="http://schemas.microsoft.com/office/drawing/2014/main" id="{389C714D-6FE4-4F9A-9A68-677CD7C2A668}"/>
              </a:ext>
            </a:extLst>
          </p:cNvPr>
          <p:cNvSpPr/>
          <p:nvPr/>
        </p:nvSpPr>
        <p:spPr>
          <a:xfrm>
            <a:off x="3164165" y="3823081"/>
            <a:ext cx="2186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①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Enable the Slice in RAN</a:t>
            </a:r>
            <a:endParaRPr kumimoji="1"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="" xmlns:a16="http://schemas.microsoft.com/office/drawing/2014/main" id="{112EF3E6-0E77-465F-83CF-567BB9BDC115}"/>
              </a:ext>
            </a:extLst>
          </p:cNvPr>
          <p:cNvCxnSpPr>
            <a:cxnSpLocks/>
          </p:cNvCxnSpPr>
          <p:nvPr/>
        </p:nvCxnSpPr>
        <p:spPr>
          <a:xfrm>
            <a:off x="3128197" y="4961825"/>
            <a:ext cx="0" cy="72271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接箭头连接符 49">
            <a:extLst>
              <a:ext uri="{FF2B5EF4-FFF2-40B4-BE49-F238E27FC236}">
                <a16:creationId xmlns="" xmlns:a16="http://schemas.microsoft.com/office/drawing/2014/main" id="{695D226B-6C25-4BC6-B324-7A97B60B47B1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4283838" y="3408277"/>
            <a:ext cx="1080001" cy="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1" name="文本框 50">
            <a:extLst>
              <a:ext uri="{FF2B5EF4-FFF2-40B4-BE49-F238E27FC236}">
                <a16:creationId xmlns="" xmlns:a16="http://schemas.microsoft.com/office/drawing/2014/main" id="{46C83C1A-3586-4D73-98F7-D39CA72D8427}"/>
              </a:ext>
            </a:extLst>
          </p:cNvPr>
          <p:cNvSpPr txBox="1"/>
          <p:nvPr/>
        </p:nvSpPr>
        <p:spPr>
          <a:xfrm>
            <a:off x="4956399" y="4648953"/>
            <a:ext cx="2239350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Resource </a:t>
            </a: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Deletion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="" xmlns:a16="http://schemas.microsoft.com/office/drawing/2014/main" id="{CBB41A5D-5214-4D98-97B8-57BCB3927544}"/>
              </a:ext>
            </a:extLst>
          </p:cNvPr>
          <p:cNvSpPr txBox="1"/>
          <p:nvPr/>
        </p:nvSpPr>
        <p:spPr>
          <a:xfrm>
            <a:off x="8712037" y="3136977"/>
            <a:ext cx="2160000" cy="53217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After Assurance, Delete the Slice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="" xmlns:a16="http://schemas.microsoft.com/office/drawing/2014/main" id="{042B46B2-62A1-49DD-BCBA-7E963AE3BD81}"/>
              </a:ext>
            </a:extLst>
          </p:cNvPr>
          <p:cNvCxnSpPr>
            <a:cxnSpLocks/>
          </p:cNvCxnSpPr>
          <p:nvPr/>
        </p:nvCxnSpPr>
        <p:spPr>
          <a:xfrm>
            <a:off x="7635438" y="3396288"/>
            <a:ext cx="1080000" cy="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连接符: 肘形 52">
            <a:extLst>
              <a:ext uri="{FF2B5EF4-FFF2-40B4-BE49-F238E27FC236}">
                <a16:creationId xmlns="" xmlns:a16="http://schemas.microsoft.com/office/drawing/2014/main" id="{0B65D918-E3C9-40A6-8B14-A7CC782E7D9A}"/>
              </a:ext>
            </a:extLst>
          </p:cNvPr>
          <p:cNvCxnSpPr>
            <a:cxnSpLocks/>
            <a:stCxn id="52" idx="2"/>
            <a:endCxn id="51" idx="0"/>
          </p:cNvCxnSpPr>
          <p:nvPr/>
        </p:nvCxnSpPr>
        <p:spPr>
          <a:xfrm rot="5400000">
            <a:off x="7444153" y="2301069"/>
            <a:ext cx="979806" cy="371596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矩形 54">
            <a:extLst>
              <a:ext uri="{FF2B5EF4-FFF2-40B4-BE49-F238E27FC236}">
                <a16:creationId xmlns="" xmlns:a16="http://schemas.microsoft.com/office/drawing/2014/main" id="{2BC0DF84-E5EB-47B4-86FA-C2670ED28E0C}"/>
              </a:ext>
            </a:extLst>
          </p:cNvPr>
          <p:cNvSpPr/>
          <p:nvPr/>
        </p:nvSpPr>
        <p:spPr>
          <a:xfrm>
            <a:off x="6103605" y="3884471"/>
            <a:ext cx="15979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Delete the Slice</a:t>
            </a:r>
            <a:endParaRPr kumimoji="1"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="" xmlns:a16="http://schemas.microsoft.com/office/drawing/2014/main" id="{9A6CBDD7-F994-4FC7-89A9-8617A47C23A2}"/>
              </a:ext>
            </a:extLst>
          </p:cNvPr>
          <p:cNvSpPr/>
          <p:nvPr/>
        </p:nvSpPr>
        <p:spPr>
          <a:xfrm>
            <a:off x="281831" y="4699994"/>
            <a:ext cx="1104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>
              <a:defRPr/>
            </a:pPr>
            <a:r>
              <a:rPr lang="en-US" altLang="zh-CN" sz="1200" b="1" spc="-10" dirty="0" smtClean="0">
                <a:solidFill>
                  <a:srgbClr val="0005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Network Resource</a:t>
            </a:r>
            <a:endParaRPr lang="en-US" altLang="zh-CN" sz="1200" b="1" spc="-10" dirty="0">
              <a:solidFill>
                <a:srgbClr val="0005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="" xmlns:a16="http://schemas.microsoft.com/office/drawing/2014/main" id="{14EDDACC-4331-4444-A988-1B872FB9C5D0}"/>
              </a:ext>
            </a:extLst>
          </p:cNvPr>
          <p:cNvSpPr/>
          <p:nvPr/>
        </p:nvSpPr>
        <p:spPr>
          <a:xfrm>
            <a:off x="369884" y="2061066"/>
            <a:ext cx="10040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 API</a:t>
            </a:r>
            <a:endParaRPr lang="zh-CN" altLang="en-US" sz="1200" dirty="0">
              <a:solidFill>
                <a:srgbClr val="0070C0"/>
              </a:solidFill>
              <a:ea typeface="等线" panose="02010600030101010101" pitchFamily="2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="" xmlns:a16="http://schemas.microsoft.com/office/drawing/2014/main" id="{515DCB5A-92A3-42EA-A824-ECF6D6CA7ABB}"/>
              </a:ext>
            </a:extLst>
          </p:cNvPr>
          <p:cNvSpPr/>
          <p:nvPr/>
        </p:nvSpPr>
        <p:spPr>
          <a:xfrm>
            <a:off x="288604" y="3930202"/>
            <a:ext cx="11091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API</a:t>
            </a:r>
            <a:endParaRPr lang="zh-CN" altLang="en-US" sz="1200" dirty="0">
              <a:solidFill>
                <a:srgbClr val="0070C0"/>
              </a:solidFill>
              <a:ea typeface="等线" panose="02010600030101010101" pitchFamily="2" charset="-122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="" xmlns:a16="http://schemas.microsoft.com/office/drawing/2014/main" id="{E9382A6B-EF09-49C5-B6C5-2CAC76341F0B}"/>
              </a:ext>
            </a:extLst>
          </p:cNvPr>
          <p:cNvCxnSpPr>
            <a:cxnSpLocks/>
          </p:cNvCxnSpPr>
          <p:nvPr/>
        </p:nvCxnSpPr>
        <p:spPr>
          <a:xfrm>
            <a:off x="5384159" y="3389514"/>
            <a:ext cx="2232000" cy="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60" name="矩形 59">
            <a:extLst>
              <a:ext uri="{FF2B5EF4-FFF2-40B4-BE49-F238E27FC236}">
                <a16:creationId xmlns="" xmlns:a16="http://schemas.microsoft.com/office/drawing/2014/main" id="{D10AA10C-56F0-413D-BFDF-BB679E733C27}"/>
              </a:ext>
            </a:extLst>
          </p:cNvPr>
          <p:cNvSpPr/>
          <p:nvPr/>
        </p:nvSpPr>
        <p:spPr>
          <a:xfrm>
            <a:off x="5738740" y="3037273"/>
            <a:ext cx="14109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78"/>
            <a:r>
              <a:rPr lang="en-US" altLang="zh-CN" sz="1200" spc="-10" dirty="0" smtClean="0">
                <a:solidFill>
                  <a:srgbClr val="0005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Under Assurance</a:t>
            </a:r>
            <a:endParaRPr lang="zh-CN" altLang="en-US" sz="1200" dirty="0">
              <a:solidFill>
                <a:srgbClr val="1D1D1A"/>
              </a:solidFill>
              <a:ea typeface="等线" panose="02010600030101010101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="" xmlns:a16="http://schemas.microsoft.com/office/drawing/2014/main" id="{4B9F841A-4DE3-4F80-A94C-422D03EE1D3E}"/>
              </a:ext>
            </a:extLst>
          </p:cNvPr>
          <p:cNvSpPr/>
          <p:nvPr/>
        </p:nvSpPr>
        <p:spPr>
          <a:xfrm>
            <a:off x="3128197" y="5038204"/>
            <a:ext cx="19400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②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Slice Resource Configuration</a:t>
            </a:r>
            <a:endParaRPr kumimoji="1"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="" xmlns:a16="http://schemas.microsoft.com/office/drawing/2014/main" id="{853FAE8F-90AD-4D75-80B1-D34EDC77DA98}"/>
              </a:ext>
            </a:extLst>
          </p:cNvPr>
          <p:cNvCxnSpPr>
            <a:cxnSpLocks/>
          </p:cNvCxnSpPr>
          <p:nvPr/>
        </p:nvCxnSpPr>
        <p:spPr>
          <a:xfrm>
            <a:off x="6066283" y="4961825"/>
            <a:ext cx="0" cy="72271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3" name="矩形 62">
            <a:extLst>
              <a:ext uri="{FF2B5EF4-FFF2-40B4-BE49-F238E27FC236}">
                <a16:creationId xmlns="" xmlns:a16="http://schemas.microsoft.com/office/drawing/2014/main" id="{0B98D9AC-E712-48D7-857C-4D763AB7D6D1}"/>
              </a:ext>
            </a:extLst>
          </p:cNvPr>
          <p:cNvSpPr/>
          <p:nvPr/>
        </p:nvSpPr>
        <p:spPr>
          <a:xfrm>
            <a:off x="6098381" y="5011544"/>
            <a:ext cx="2122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④ </a:t>
            </a:r>
            <a:r>
              <a:rPr lang="en-US" altLang="zh-CN" sz="1200" spc="-1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 Slice Resource </a:t>
            </a:r>
            <a:r>
              <a:rPr lang="en-US" altLang="zh-CN" sz="1200" spc="-1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Configuration Deletion</a:t>
            </a:r>
            <a:endParaRPr kumimoji="1"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="" xmlns:a16="http://schemas.microsoft.com/office/drawing/2014/main" id="{EDBB88AE-E3BE-48D2-942B-F9B84E96F310}"/>
              </a:ext>
            </a:extLst>
          </p:cNvPr>
          <p:cNvSpPr txBox="1"/>
          <p:nvPr/>
        </p:nvSpPr>
        <p:spPr>
          <a:xfrm>
            <a:off x="8241211" y="4257607"/>
            <a:ext cx="3568488" cy="1022479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Core Network Management Domain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="" xmlns:a16="http://schemas.microsoft.com/office/drawing/2014/main" id="{8DB3E369-C8D0-4987-84E9-8D50D8EBFED2}"/>
              </a:ext>
            </a:extLst>
          </p:cNvPr>
          <p:cNvSpPr txBox="1"/>
          <p:nvPr/>
        </p:nvSpPr>
        <p:spPr>
          <a:xfrm>
            <a:off x="8220891" y="5684535"/>
            <a:ext cx="3568490" cy="50942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DDDDDD">
                <a:lumMod val="75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5G Core NEs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="" xmlns:a16="http://schemas.microsoft.com/office/drawing/2014/main" id="{7D01C97F-17E9-42CF-8918-BD2152DE5679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10005136" y="5280086"/>
            <a:ext cx="20319" cy="404449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7" name="文本框 66">
            <a:extLst>
              <a:ext uri="{FF2B5EF4-FFF2-40B4-BE49-F238E27FC236}">
                <a16:creationId xmlns="" xmlns:a16="http://schemas.microsoft.com/office/drawing/2014/main" id="{C8393EC5-0BED-41E0-B46E-6F7325F04465}"/>
              </a:ext>
            </a:extLst>
          </p:cNvPr>
          <p:cNvSpPr txBox="1"/>
          <p:nvPr/>
        </p:nvSpPr>
        <p:spPr>
          <a:xfrm>
            <a:off x="8403682" y="4635406"/>
            <a:ext cx="1621774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Core Slice Resource Creation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="" xmlns:a16="http://schemas.microsoft.com/office/drawing/2014/main" id="{44A26C28-3929-4D7B-993A-98BAD09BBB6E}"/>
              </a:ext>
            </a:extLst>
          </p:cNvPr>
          <p:cNvSpPr txBox="1"/>
          <p:nvPr/>
        </p:nvSpPr>
        <p:spPr>
          <a:xfrm>
            <a:off x="10114433" y="4635406"/>
            <a:ext cx="1621774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>
                <a:lumMod val="90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-10" normalizeH="0" baseline="0" noProof="0" dirty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Core Slice Resource </a:t>
            </a:r>
            <a:r>
              <a:rPr kumimoji="0" lang="en-US" altLang="zh-CN" sz="1200" b="0" i="0" u="none" strike="noStrike" kern="0" cap="none" spc="-10" normalizeH="0" baseline="0" noProof="0" dirty="0" smtClean="0">
                <a:ln>
                  <a:noFill/>
                </a:ln>
                <a:solidFill>
                  <a:srgbClr val="0005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Deletion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连接符: 肘形 43">
            <a:extLst>
              <a:ext uri="{FF2B5EF4-FFF2-40B4-BE49-F238E27FC236}">
                <a16:creationId xmlns="" xmlns:a16="http://schemas.microsoft.com/office/drawing/2014/main" id="{2A547B79-9AB5-4956-8ED1-9826A9FF9C04}"/>
              </a:ext>
            </a:extLst>
          </p:cNvPr>
          <p:cNvCxnSpPr>
            <a:endCxn id="67" idx="0"/>
          </p:cNvCxnSpPr>
          <p:nvPr/>
        </p:nvCxnSpPr>
        <p:spPr>
          <a:xfrm>
            <a:off x="3165693" y="3765370"/>
            <a:ext cx="6048876" cy="870036"/>
          </a:xfrm>
          <a:prstGeom prst="bentConnector2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70" name="连接符: 肘形 69">
            <a:extLst>
              <a:ext uri="{FF2B5EF4-FFF2-40B4-BE49-F238E27FC236}">
                <a16:creationId xmlns="" xmlns:a16="http://schemas.microsoft.com/office/drawing/2014/main" id="{330D3CFB-2475-4971-A881-EE47C803FC7B}"/>
              </a:ext>
            </a:extLst>
          </p:cNvPr>
          <p:cNvCxnSpPr>
            <a:cxnSpLocks/>
            <a:stCxn id="52" idx="2"/>
            <a:endCxn id="68" idx="0"/>
          </p:cNvCxnSpPr>
          <p:nvPr/>
        </p:nvCxnSpPr>
        <p:spPr>
          <a:xfrm rot="16200000" flipH="1">
            <a:off x="9875549" y="3585634"/>
            <a:ext cx="966259" cy="113328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dash"/>
            <a:miter lim="800000"/>
            <a:tailEnd type="triangle"/>
          </a:ln>
          <a:effectLst/>
        </p:spPr>
      </p:cxnSp>
      <p:sp>
        <p:nvSpPr>
          <p:cNvPr id="71" name="文本框 70">
            <a:extLst>
              <a:ext uri="{FF2B5EF4-FFF2-40B4-BE49-F238E27FC236}">
                <a16:creationId xmlns="" xmlns:a16="http://schemas.microsoft.com/office/drawing/2014/main" id="{09332B8B-061A-4325-9E5A-259206694D19}"/>
              </a:ext>
            </a:extLst>
          </p:cNvPr>
          <p:cNvSpPr txBox="1"/>
          <p:nvPr/>
        </p:nvSpPr>
        <p:spPr>
          <a:xfrm>
            <a:off x="398731" y="6385522"/>
            <a:ext cx="11561842" cy="27249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95000"/>
              </a:srgb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Noted</a:t>
            </a:r>
            <a:r>
              <a:rPr kumimoji="1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1" lang="en-US" altLang="zh-CN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Slice Creation and Deletion Network APIs are based on 3GPP</a:t>
            </a:r>
            <a:endParaRPr kumimoji="1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="" xmlns:a16="http://schemas.microsoft.com/office/drawing/2014/main" id="{D5A41332-C01A-4EE3-B39A-6CD4B972B800}"/>
              </a:ext>
            </a:extLst>
          </p:cNvPr>
          <p:cNvSpPr/>
          <p:nvPr/>
        </p:nvSpPr>
        <p:spPr>
          <a:xfrm>
            <a:off x="68614" y="3213748"/>
            <a:ext cx="16017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>
              <a:defRPr/>
            </a:pPr>
            <a:r>
              <a:rPr kumimoji="1" lang="en-US" altLang="zh-CN" sz="1200" b="1" spc="-10" dirty="0" err="1" smtClean="0">
                <a:solidFill>
                  <a:srgbClr val="0005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NaaS+BSS+OSS</a:t>
            </a:r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Thank you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4444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7c7f136-5fe9-46ac-88f0-c360e5a39059"/>
  <p:tag name="COMMONDATA" val="eyJoZGlkIjoiOTc5M2Y1MGQ0NjYzNDEzNmM1N2ViNjlkMmRjMGE5N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kumimoji="1" sz="14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770</Words>
  <Application>Microsoft Office PowerPoint</Application>
  <PresentationFormat>宽屏</PresentationFormat>
  <Paragraphs>158</Paragraphs>
  <Slides>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inherit</vt:lpstr>
      <vt:lpstr>Montserrat Light</vt:lpstr>
      <vt:lpstr>等线</vt:lpstr>
      <vt:lpstr>华文细黑</vt:lpstr>
      <vt:lpstr>宋体</vt:lpstr>
      <vt:lpstr>Microsoft YaHei</vt:lpstr>
      <vt:lpstr>Microsoft YaHei</vt:lpstr>
      <vt:lpstr>Arial</vt:lpstr>
      <vt:lpstr>Calibri</vt:lpstr>
      <vt:lpstr>Calibri Light</vt:lpstr>
      <vt:lpstr>Wingdings</vt:lpstr>
      <vt:lpstr>Office 主题</vt:lpstr>
      <vt:lpstr>4_章节页</vt:lpstr>
      <vt:lpstr>think-cell Folie</vt:lpstr>
      <vt:lpstr>PowerPoint 演示文稿</vt:lpstr>
      <vt:lpstr>PowerPoint 演示文稿</vt:lpstr>
      <vt:lpstr>Background</vt:lpstr>
      <vt:lpstr>PowerPoint 演示文稿</vt:lpstr>
      <vt:lpstr>SLA Network Slicing, Based on Network Slice</vt:lpstr>
      <vt:lpstr>PowerPoint 演示文稿</vt:lpstr>
      <vt:lpstr>Reservation API：Service API With Network API</vt:lpstr>
      <vt:lpstr>Enable and Delete Slice Work Flow：Before and After the Assurance, CSMF/NSMF will Enable/Delete the Slice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Provisioning API</dc:title>
  <dc:creator>Chenchuanyu</dc:creator>
  <cp:lastModifiedBy>qingshuting</cp:lastModifiedBy>
  <cp:revision>79</cp:revision>
  <dcterms:created xsi:type="dcterms:W3CDTF">2023-05-18T03:52:00Z</dcterms:created>
  <dcterms:modified xsi:type="dcterms:W3CDTF">2023-10-27T09:51:58Z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(3)lVRl8MD59HyTh5hMQ4MXHCvCeZgcJNvbxTrEpeuZWNdHBPFM4mGfTsTq2VFnW4SzoKrO4vTc
fvZU0QSlyuWAA5UIySjJpe7lSDcdchzMTXaudhPtz4oWIE0jUdbQ2JYRM9YEUEjlO9slJ0Ed
Y8RCAC8ztCRgEPYz23Fe+1nlOT6OWy/YAHleclqNi77Wmw9f68AQyAZAnef1gdW+bSQVTIqI
aHsbje1kHk3NStgvv9</vt:lpwstr>
  </property>
  <property fmtid="{D5CDD505-2E9C-101B-9397-08002B2CF9AE}" pid="3" name="_2015_ms_pID_7253431">
    <vt:lpwstr>FfEsSyr3hqmnncfGInDYTE8A00eLGLROiAIRBxyRyBzyhM2l6NlVvU
w4Vrys666sl9u2LFhvgCwl5f+uaN4diEUIBAvgOMeeGMFZWMgF53Q99joA9neK+dsGnBoFJh
ltYhRXHzRgR0sxZD+dKhs38CJNiFDQK+bgazVroukqAS0HmqbhDysEWnrLquArmNjll4oFJA
sInVlZVfa49I9Ed8dVTAXxHmZf6mP/kxbJdx</vt:lpwstr>
  </property>
  <property fmtid="{D5CDD505-2E9C-101B-9397-08002B2CF9AE}" pid="4" name="ICV">
    <vt:lpwstr>46D1C0C497C449C9BBF4BC5F9875C54C</vt:lpwstr>
  </property>
  <property fmtid="{D5CDD505-2E9C-101B-9397-08002B2CF9AE}" pid="5" name="KSOProductBuildVer">
    <vt:lpwstr>2052-11.1.0.12358</vt:lpwstr>
  </property>
  <property fmtid="{D5CDD505-2E9C-101B-9397-08002B2CF9AE}" pid="6" name="_2015_ms_pID_7253432">
    <vt:lpwstr>Kw==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1697721444</vt:lpwstr>
  </property>
</Properties>
</file>